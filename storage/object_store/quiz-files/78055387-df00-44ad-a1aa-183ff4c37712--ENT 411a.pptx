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0" d="100"/>
          <a:sy n="80" d="100"/>
        </p:scale>
        <p:origin x="1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85A555-FB8E-4F5D-9805-9EC25212322F}" type="doc">
      <dgm:prSet loTypeId="urn:microsoft.com/office/officeart/2011/layout/HexagonRadial" loCatId="officeonline" qsTypeId="urn:microsoft.com/office/officeart/2005/8/quickstyle/simple1" qsCatId="simple" csTypeId="urn:microsoft.com/office/officeart/2005/8/colors/accent1_2" csCatId="accent1" phldr="1"/>
      <dgm:spPr/>
      <dgm:t>
        <a:bodyPr/>
        <a:lstStyle/>
        <a:p>
          <a:endParaRPr lang="x-none"/>
        </a:p>
      </dgm:t>
    </dgm:pt>
    <dgm:pt modelId="{496BC748-AB82-4F06-8625-EBE77D308954}">
      <dgm:prSet phldrT="[Text]" custT="1"/>
      <dgm:spPr/>
      <dgm:t>
        <a:bodyPr/>
        <a:lstStyle/>
        <a:p>
          <a:r>
            <a:rPr lang="en-US" sz="4600" dirty="0"/>
            <a:t> </a:t>
          </a:r>
          <a:r>
            <a:rPr lang="en-US" sz="1200" dirty="0"/>
            <a:t>Outside external </a:t>
          </a:r>
          <a:r>
            <a:rPr lang="en-US" sz="1200" dirty="0" err="1"/>
            <a:t>forces</a:t>
          </a:r>
          <a:r>
            <a:rPr lang="en-US" sz="1050" dirty="0" err="1"/>
            <a:t>jjjj</a:t>
          </a:r>
          <a:r>
            <a:rPr lang="en-US" sz="4600" dirty="0"/>
            <a:t> </a:t>
          </a:r>
          <a:endParaRPr lang="x-none" sz="4600" dirty="0"/>
        </a:p>
      </dgm:t>
    </dgm:pt>
    <dgm:pt modelId="{8E6F7D69-6E11-4CD8-B94B-9FB43EB3610D}" type="parTrans" cxnId="{BDB60B59-C7C3-49DE-A596-9A5E1D4ACBF2}">
      <dgm:prSet/>
      <dgm:spPr/>
      <dgm:t>
        <a:bodyPr/>
        <a:lstStyle/>
        <a:p>
          <a:endParaRPr lang="x-none"/>
        </a:p>
      </dgm:t>
    </dgm:pt>
    <dgm:pt modelId="{BBAEBCA2-3190-486E-B0D7-91624A7B82C7}" type="sibTrans" cxnId="{BDB60B59-C7C3-49DE-A596-9A5E1D4ACBF2}">
      <dgm:prSet/>
      <dgm:spPr/>
      <dgm:t>
        <a:bodyPr/>
        <a:lstStyle/>
        <a:p>
          <a:endParaRPr lang="x-none"/>
        </a:p>
      </dgm:t>
    </dgm:pt>
    <dgm:pt modelId="{28C5172B-781B-490E-8097-C89249DF1317}">
      <dgm:prSet phldrT="[Text]" custT="1"/>
      <dgm:spPr/>
      <dgm:t>
        <a:bodyPr/>
        <a:lstStyle/>
        <a:p>
          <a:r>
            <a:rPr lang="en-US" sz="1050"/>
            <a:t>Staffing</a:t>
          </a:r>
          <a:endParaRPr lang="x-none" sz="1050"/>
        </a:p>
      </dgm:t>
    </dgm:pt>
    <dgm:pt modelId="{93076AD8-3EF0-4016-B1A0-E4BFE85198BB}" type="parTrans" cxnId="{854D3B09-77C9-4D59-B4A0-9768681EE264}">
      <dgm:prSet/>
      <dgm:spPr/>
      <dgm:t>
        <a:bodyPr/>
        <a:lstStyle/>
        <a:p>
          <a:endParaRPr lang="x-none"/>
        </a:p>
      </dgm:t>
    </dgm:pt>
    <dgm:pt modelId="{C6451DE6-BD80-46FE-AA5B-1A3D1226598E}" type="sibTrans" cxnId="{854D3B09-77C9-4D59-B4A0-9768681EE264}">
      <dgm:prSet/>
      <dgm:spPr/>
      <dgm:t>
        <a:bodyPr/>
        <a:lstStyle/>
        <a:p>
          <a:endParaRPr lang="x-none"/>
        </a:p>
      </dgm:t>
    </dgm:pt>
    <dgm:pt modelId="{C41760AA-E98A-4E58-A3D9-D954DC3F7796}">
      <dgm:prSet phldrT="[Text]" custT="1"/>
      <dgm:spPr/>
      <dgm:t>
        <a:bodyPr/>
        <a:lstStyle/>
        <a:p>
          <a:r>
            <a:rPr lang="en-US" sz="1050"/>
            <a:t>Policies</a:t>
          </a:r>
          <a:endParaRPr lang="x-none" sz="1050"/>
        </a:p>
      </dgm:t>
    </dgm:pt>
    <dgm:pt modelId="{9F11E009-85C3-4C51-B8AB-0074F0FF9593}" type="parTrans" cxnId="{847D2390-1FE9-4749-917F-D01008886DAB}">
      <dgm:prSet/>
      <dgm:spPr/>
      <dgm:t>
        <a:bodyPr/>
        <a:lstStyle/>
        <a:p>
          <a:endParaRPr lang="x-none"/>
        </a:p>
      </dgm:t>
    </dgm:pt>
    <dgm:pt modelId="{0D664765-2A81-4CD9-A628-C5A8DD458E15}" type="sibTrans" cxnId="{847D2390-1FE9-4749-917F-D01008886DAB}">
      <dgm:prSet/>
      <dgm:spPr/>
      <dgm:t>
        <a:bodyPr/>
        <a:lstStyle/>
        <a:p>
          <a:endParaRPr lang="x-none"/>
        </a:p>
      </dgm:t>
    </dgm:pt>
    <dgm:pt modelId="{8C576E30-154E-4D0E-8E65-B702596965BA}">
      <dgm:prSet phldrT="[Text]" custT="1"/>
      <dgm:spPr/>
      <dgm:t>
        <a:bodyPr/>
        <a:lstStyle/>
        <a:p>
          <a:r>
            <a:rPr lang="en-US" sz="1050"/>
            <a:t>Retention</a:t>
          </a:r>
          <a:endParaRPr lang="x-none" sz="1050"/>
        </a:p>
      </dgm:t>
    </dgm:pt>
    <dgm:pt modelId="{78E438D5-A935-4391-8653-03DC16E7A81D}" type="parTrans" cxnId="{6C2795C5-FF05-48EB-A906-27ED2C66446B}">
      <dgm:prSet/>
      <dgm:spPr/>
      <dgm:t>
        <a:bodyPr/>
        <a:lstStyle/>
        <a:p>
          <a:endParaRPr lang="x-none"/>
        </a:p>
      </dgm:t>
    </dgm:pt>
    <dgm:pt modelId="{BCD3ECCB-3749-44F7-A535-53F03C440E28}" type="sibTrans" cxnId="{6C2795C5-FF05-48EB-A906-27ED2C66446B}">
      <dgm:prSet/>
      <dgm:spPr/>
      <dgm:t>
        <a:bodyPr/>
        <a:lstStyle/>
        <a:p>
          <a:endParaRPr lang="x-none"/>
        </a:p>
      </dgm:t>
    </dgm:pt>
    <dgm:pt modelId="{F57A9413-4F68-43EE-A7EE-ACB714722252}">
      <dgm:prSet phldrT="[Text]" custT="1"/>
      <dgm:spPr/>
      <dgm:t>
        <a:bodyPr/>
        <a:lstStyle/>
        <a:p>
          <a:r>
            <a:rPr lang="en-US" sz="1050"/>
            <a:t>Laws</a:t>
          </a:r>
          <a:endParaRPr lang="x-none" sz="1050"/>
        </a:p>
      </dgm:t>
    </dgm:pt>
    <dgm:pt modelId="{655E2259-2B87-47D3-B5DC-6840D558180E}" type="parTrans" cxnId="{9807EA58-AF1F-4A66-A6C2-5D37D68BE4BD}">
      <dgm:prSet/>
      <dgm:spPr/>
      <dgm:t>
        <a:bodyPr/>
        <a:lstStyle/>
        <a:p>
          <a:endParaRPr lang="x-none"/>
        </a:p>
      </dgm:t>
    </dgm:pt>
    <dgm:pt modelId="{FA1ADCDF-813C-40F8-9B4B-7935D33FB7E1}" type="sibTrans" cxnId="{9807EA58-AF1F-4A66-A6C2-5D37D68BE4BD}">
      <dgm:prSet/>
      <dgm:spPr/>
      <dgm:t>
        <a:bodyPr/>
        <a:lstStyle/>
        <a:p>
          <a:endParaRPr lang="x-none"/>
        </a:p>
      </dgm:t>
    </dgm:pt>
    <dgm:pt modelId="{C2CF6170-2147-491E-A682-CFC9D12086EC}">
      <dgm:prSet phldrT="[Text]" custT="1"/>
      <dgm:spPr/>
      <dgm:t>
        <a:bodyPr/>
        <a:lstStyle/>
        <a:p>
          <a:r>
            <a:rPr lang="en-US" sz="1050"/>
            <a:t>Workers protection</a:t>
          </a:r>
          <a:endParaRPr lang="x-none" sz="1050"/>
        </a:p>
      </dgm:t>
    </dgm:pt>
    <dgm:pt modelId="{223B5CD1-6C2F-4272-86B4-3CCB50DBD625}" type="parTrans" cxnId="{8F104959-DC8D-4F52-B02D-DBDCB6A9FA0F}">
      <dgm:prSet/>
      <dgm:spPr/>
      <dgm:t>
        <a:bodyPr/>
        <a:lstStyle/>
        <a:p>
          <a:endParaRPr lang="x-none"/>
        </a:p>
      </dgm:t>
    </dgm:pt>
    <dgm:pt modelId="{88B14F49-5568-4605-B567-329ADE782868}" type="sibTrans" cxnId="{8F104959-DC8D-4F52-B02D-DBDCB6A9FA0F}">
      <dgm:prSet/>
      <dgm:spPr/>
      <dgm:t>
        <a:bodyPr/>
        <a:lstStyle/>
        <a:p>
          <a:endParaRPr lang="x-none"/>
        </a:p>
      </dgm:t>
    </dgm:pt>
    <dgm:pt modelId="{E4B3A3A7-3C32-463B-8BB4-89522664646E}">
      <dgm:prSet phldrT="[Text]" custT="1"/>
      <dgm:spPr/>
      <dgm:t>
        <a:bodyPr/>
        <a:lstStyle/>
        <a:p>
          <a:r>
            <a:rPr lang="en-US" sz="1050"/>
            <a:t>Compensation and benefits</a:t>
          </a:r>
          <a:endParaRPr lang="x-none" sz="1050"/>
        </a:p>
      </dgm:t>
    </dgm:pt>
    <dgm:pt modelId="{18FAC8B4-D9A4-4872-A64E-BEC1D69C5D72}" type="sibTrans" cxnId="{185B5154-847E-4906-A179-2093D8324BDC}">
      <dgm:prSet/>
      <dgm:spPr/>
      <dgm:t>
        <a:bodyPr/>
        <a:lstStyle/>
        <a:p>
          <a:endParaRPr lang="x-none"/>
        </a:p>
      </dgm:t>
    </dgm:pt>
    <dgm:pt modelId="{165EE50F-9366-4A8C-958A-8B4FBD85B7E8}" type="parTrans" cxnId="{185B5154-847E-4906-A179-2093D8324BDC}">
      <dgm:prSet/>
      <dgm:spPr/>
      <dgm:t>
        <a:bodyPr/>
        <a:lstStyle/>
        <a:p>
          <a:endParaRPr lang="x-none"/>
        </a:p>
      </dgm:t>
    </dgm:pt>
    <dgm:pt modelId="{0A7723C8-96BC-49AC-9431-6691D520271F}" type="pres">
      <dgm:prSet presAssocID="{2185A555-FB8E-4F5D-9805-9EC25212322F}" presName="Name0" presStyleCnt="0">
        <dgm:presLayoutVars>
          <dgm:chMax val="1"/>
          <dgm:chPref val="1"/>
          <dgm:dir/>
          <dgm:animOne val="branch"/>
          <dgm:animLvl val="lvl"/>
        </dgm:presLayoutVars>
      </dgm:prSet>
      <dgm:spPr/>
      <dgm:t>
        <a:bodyPr/>
        <a:lstStyle/>
        <a:p>
          <a:endParaRPr lang="en-US"/>
        </a:p>
      </dgm:t>
    </dgm:pt>
    <dgm:pt modelId="{EC323E79-F62C-4A5F-A580-24F472F66F12}" type="pres">
      <dgm:prSet presAssocID="{496BC748-AB82-4F06-8625-EBE77D308954}" presName="Parent" presStyleLbl="node0" presStyleIdx="0" presStyleCnt="1" custScaleX="91897">
        <dgm:presLayoutVars>
          <dgm:chMax val="6"/>
          <dgm:chPref val="6"/>
        </dgm:presLayoutVars>
      </dgm:prSet>
      <dgm:spPr/>
      <dgm:t>
        <a:bodyPr/>
        <a:lstStyle/>
        <a:p>
          <a:endParaRPr lang="en-US"/>
        </a:p>
      </dgm:t>
    </dgm:pt>
    <dgm:pt modelId="{AA7BBA41-8EC3-4437-94DE-F432D9FCF911}" type="pres">
      <dgm:prSet presAssocID="{28C5172B-781B-490E-8097-C89249DF1317}" presName="Accent1" presStyleCnt="0"/>
      <dgm:spPr/>
    </dgm:pt>
    <dgm:pt modelId="{3A131B29-B923-4C11-B057-A01BD6F379B9}" type="pres">
      <dgm:prSet presAssocID="{28C5172B-781B-490E-8097-C89249DF1317}" presName="Accent" presStyleLbl="bgShp" presStyleIdx="0" presStyleCnt="6"/>
      <dgm:spPr/>
    </dgm:pt>
    <dgm:pt modelId="{48F96F24-2E46-47AE-93B6-DF0EC4EBF7F1}" type="pres">
      <dgm:prSet presAssocID="{28C5172B-781B-490E-8097-C89249DF1317}" presName="Child1" presStyleLbl="node1" presStyleIdx="0" presStyleCnt="6" custLinFactNeighborX="-69" custLinFactNeighborY="-741">
        <dgm:presLayoutVars>
          <dgm:chMax val="0"/>
          <dgm:chPref val="0"/>
          <dgm:bulletEnabled val="1"/>
        </dgm:presLayoutVars>
      </dgm:prSet>
      <dgm:spPr/>
      <dgm:t>
        <a:bodyPr/>
        <a:lstStyle/>
        <a:p>
          <a:endParaRPr lang="en-US"/>
        </a:p>
      </dgm:t>
    </dgm:pt>
    <dgm:pt modelId="{0443A145-3F4E-41EF-9C76-6BECD6F95A91}" type="pres">
      <dgm:prSet presAssocID="{C41760AA-E98A-4E58-A3D9-D954DC3F7796}" presName="Accent2" presStyleCnt="0"/>
      <dgm:spPr/>
    </dgm:pt>
    <dgm:pt modelId="{200DB8D8-56EA-4BCE-9955-4723E6AD5F0F}" type="pres">
      <dgm:prSet presAssocID="{C41760AA-E98A-4E58-A3D9-D954DC3F7796}" presName="Accent" presStyleLbl="bgShp" presStyleIdx="1" presStyleCnt="6"/>
      <dgm:spPr/>
    </dgm:pt>
    <dgm:pt modelId="{4BF0E5ED-1775-41A2-8385-C212DD62897A}" type="pres">
      <dgm:prSet presAssocID="{C41760AA-E98A-4E58-A3D9-D954DC3F7796}" presName="Child2" presStyleLbl="node1" presStyleIdx="1" presStyleCnt="6">
        <dgm:presLayoutVars>
          <dgm:chMax val="0"/>
          <dgm:chPref val="0"/>
          <dgm:bulletEnabled val="1"/>
        </dgm:presLayoutVars>
      </dgm:prSet>
      <dgm:spPr/>
      <dgm:t>
        <a:bodyPr/>
        <a:lstStyle/>
        <a:p>
          <a:endParaRPr lang="en-US"/>
        </a:p>
      </dgm:t>
    </dgm:pt>
    <dgm:pt modelId="{0ABB7554-CED0-450E-B295-3C5555265EF5}" type="pres">
      <dgm:prSet presAssocID="{E4B3A3A7-3C32-463B-8BB4-89522664646E}" presName="Accent3" presStyleCnt="0"/>
      <dgm:spPr/>
    </dgm:pt>
    <dgm:pt modelId="{E6F83EE2-8ADE-4BDE-AABC-7C09D7876A26}" type="pres">
      <dgm:prSet presAssocID="{E4B3A3A7-3C32-463B-8BB4-89522664646E}" presName="Accent" presStyleLbl="bgShp" presStyleIdx="2" presStyleCnt="6"/>
      <dgm:spPr/>
    </dgm:pt>
    <dgm:pt modelId="{C2A16AF4-F901-4791-9F17-A3AA24254AD0}" type="pres">
      <dgm:prSet presAssocID="{E4B3A3A7-3C32-463B-8BB4-89522664646E}" presName="Child3" presStyleLbl="node1" presStyleIdx="2" presStyleCnt="6">
        <dgm:presLayoutVars>
          <dgm:chMax val="0"/>
          <dgm:chPref val="0"/>
          <dgm:bulletEnabled val="1"/>
        </dgm:presLayoutVars>
      </dgm:prSet>
      <dgm:spPr/>
      <dgm:t>
        <a:bodyPr/>
        <a:lstStyle/>
        <a:p>
          <a:endParaRPr lang="en-US"/>
        </a:p>
      </dgm:t>
    </dgm:pt>
    <dgm:pt modelId="{C848AD57-E4C6-45DA-BA38-2166215A9771}" type="pres">
      <dgm:prSet presAssocID="{8C576E30-154E-4D0E-8E65-B702596965BA}" presName="Accent4" presStyleCnt="0"/>
      <dgm:spPr/>
    </dgm:pt>
    <dgm:pt modelId="{F8E8CA12-2288-48A6-9600-9BFF65DACEE7}" type="pres">
      <dgm:prSet presAssocID="{8C576E30-154E-4D0E-8E65-B702596965BA}" presName="Accent" presStyleLbl="bgShp" presStyleIdx="3" presStyleCnt="6"/>
      <dgm:spPr/>
    </dgm:pt>
    <dgm:pt modelId="{55ABF151-644F-4ACD-8273-A24AFE606849}" type="pres">
      <dgm:prSet presAssocID="{8C576E30-154E-4D0E-8E65-B702596965BA}" presName="Child4" presStyleLbl="node1" presStyleIdx="3" presStyleCnt="6">
        <dgm:presLayoutVars>
          <dgm:chMax val="0"/>
          <dgm:chPref val="0"/>
          <dgm:bulletEnabled val="1"/>
        </dgm:presLayoutVars>
      </dgm:prSet>
      <dgm:spPr/>
      <dgm:t>
        <a:bodyPr/>
        <a:lstStyle/>
        <a:p>
          <a:endParaRPr lang="en-US"/>
        </a:p>
      </dgm:t>
    </dgm:pt>
    <dgm:pt modelId="{C58CB324-132A-4A4F-9998-A2DE50E3A61B}" type="pres">
      <dgm:prSet presAssocID="{F57A9413-4F68-43EE-A7EE-ACB714722252}" presName="Accent5" presStyleCnt="0"/>
      <dgm:spPr/>
    </dgm:pt>
    <dgm:pt modelId="{223D52EF-B2FF-4903-B474-FBDD3D58777E}" type="pres">
      <dgm:prSet presAssocID="{F57A9413-4F68-43EE-A7EE-ACB714722252}" presName="Accent" presStyleLbl="bgShp" presStyleIdx="4" presStyleCnt="6"/>
      <dgm:spPr/>
    </dgm:pt>
    <dgm:pt modelId="{AEBF76B5-CF75-47D1-9899-0DF6A7382B72}" type="pres">
      <dgm:prSet presAssocID="{F57A9413-4F68-43EE-A7EE-ACB714722252}" presName="Child5" presStyleLbl="node1" presStyleIdx="4" presStyleCnt="6">
        <dgm:presLayoutVars>
          <dgm:chMax val="0"/>
          <dgm:chPref val="0"/>
          <dgm:bulletEnabled val="1"/>
        </dgm:presLayoutVars>
      </dgm:prSet>
      <dgm:spPr/>
      <dgm:t>
        <a:bodyPr/>
        <a:lstStyle/>
        <a:p>
          <a:endParaRPr lang="en-US"/>
        </a:p>
      </dgm:t>
    </dgm:pt>
    <dgm:pt modelId="{F93A1FA1-9262-4039-89D5-8B7AAAF4EAE4}" type="pres">
      <dgm:prSet presAssocID="{C2CF6170-2147-491E-A682-CFC9D12086EC}" presName="Accent6" presStyleCnt="0"/>
      <dgm:spPr/>
    </dgm:pt>
    <dgm:pt modelId="{76A4D6D3-0F0F-4FF0-8A6F-D75DF3440237}" type="pres">
      <dgm:prSet presAssocID="{C2CF6170-2147-491E-A682-CFC9D12086EC}" presName="Accent" presStyleLbl="bgShp" presStyleIdx="5" presStyleCnt="6"/>
      <dgm:spPr/>
    </dgm:pt>
    <dgm:pt modelId="{CF3311D9-BF5F-4175-A35C-0F3BF80ECF54}" type="pres">
      <dgm:prSet presAssocID="{C2CF6170-2147-491E-A682-CFC9D12086EC}" presName="Child6" presStyleLbl="node1" presStyleIdx="5" presStyleCnt="6">
        <dgm:presLayoutVars>
          <dgm:chMax val="0"/>
          <dgm:chPref val="0"/>
          <dgm:bulletEnabled val="1"/>
        </dgm:presLayoutVars>
      </dgm:prSet>
      <dgm:spPr/>
      <dgm:t>
        <a:bodyPr/>
        <a:lstStyle/>
        <a:p>
          <a:endParaRPr lang="en-US"/>
        </a:p>
      </dgm:t>
    </dgm:pt>
  </dgm:ptLst>
  <dgm:cxnLst>
    <dgm:cxn modelId="{A2A23BCA-7277-4737-9D39-1DAFAAA48C38}" type="presOf" srcId="{F57A9413-4F68-43EE-A7EE-ACB714722252}" destId="{AEBF76B5-CF75-47D1-9899-0DF6A7382B72}" srcOrd="0" destOrd="0" presId="urn:microsoft.com/office/officeart/2011/layout/HexagonRadial"/>
    <dgm:cxn modelId="{81AF3E20-41DA-4071-9C19-B13B63A6E409}" type="presOf" srcId="{496BC748-AB82-4F06-8625-EBE77D308954}" destId="{EC323E79-F62C-4A5F-A580-24F472F66F12}" srcOrd="0" destOrd="0" presId="urn:microsoft.com/office/officeart/2011/layout/HexagonRadial"/>
    <dgm:cxn modelId="{847D2390-1FE9-4749-917F-D01008886DAB}" srcId="{496BC748-AB82-4F06-8625-EBE77D308954}" destId="{C41760AA-E98A-4E58-A3D9-D954DC3F7796}" srcOrd="1" destOrd="0" parTransId="{9F11E009-85C3-4C51-B8AB-0074F0FF9593}" sibTransId="{0D664765-2A81-4CD9-A628-C5A8DD458E15}"/>
    <dgm:cxn modelId="{BDB60B59-C7C3-49DE-A596-9A5E1D4ACBF2}" srcId="{2185A555-FB8E-4F5D-9805-9EC25212322F}" destId="{496BC748-AB82-4F06-8625-EBE77D308954}" srcOrd="0" destOrd="0" parTransId="{8E6F7D69-6E11-4CD8-B94B-9FB43EB3610D}" sibTransId="{BBAEBCA2-3190-486E-B0D7-91624A7B82C7}"/>
    <dgm:cxn modelId="{854D3B09-77C9-4D59-B4A0-9768681EE264}" srcId="{496BC748-AB82-4F06-8625-EBE77D308954}" destId="{28C5172B-781B-490E-8097-C89249DF1317}" srcOrd="0" destOrd="0" parTransId="{93076AD8-3EF0-4016-B1A0-E4BFE85198BB}" sibTransId="{C6451DE6-BD80-46FE-AA5B-1A3D1226598E}"/>
    <dgm:cxn modelId="{5A298ECE-6AC5-41B5-8E26-C4B6A414854A}" type="presOf" srcId="{2185A555-FB8E-4F5D-9805-9EC25212322F}" destId="{0A7723C8-96BC-49AC-9431-6691D520271F}" srcOrd="0" destOrd="0" presId="urn:microsoft.com/office/officeart/2011/layout/HexagonRadial"/>
    <dgm:cxn modelId="{6C2795C5-FF05-48EB-A906-27ED2C66446B}" srcId="{496BC748-AB82-4F06-8625-EBE77D308954}" destId="{8C576E30-154E-4D0E-8E65-B702596965BA}" srcOrd="3" destOrd="0" parTransId="{78E438D5-A935-4391-8653-03DC16E7A81D}" sibTransId="{BCD3ECCB-3749-44F7-A535-53F03C440E28}"/>
    <dgm:cxn modelId="{9993902B-1B9C-492F-9F63-3E38B7861341}" type="presOf" srcId="{28C5172B-781B-490E-8097-C89249DF1317}" destId="{48F96F24-2E46-47AE-93B6-DF0EC4EBF7F1}" srcOrd="0" destOrd="0" presId="urn:microsoft.com/office/officeart/2011/layout/HexagonRadial"/>
    <dgm:cxn modelId="{4C3DC49E-9A22-4C44-B90B-E279891C29D8}" type="presOf" srcId="{C41760AA-E98A-4E58-A3D9-D954DC3F7796}" destId="{4BF0E5ED-1775-41A2-8385-C212DD62897A}" srcOrd="0" destOrd="0" presId="urn:microsoft.com/office/officeart/2011/layout/HexagonRadial"/>
    <dgm:cxn modelId="{2CD9C979-E1CA-43D1-A9BD-BF4B6BCF173E}" type="presOf" srcId="{E4B3A3A7-3C32-463B-8BB4-89522664646E}" destId="{C2A16AF4-F901-4791-9F17-A3AA24254AD0}" srcOrd="0" destOrd="0" presId="urn:microsoft.com/office/officeart/2011/layout/HexagonRadial"/>
    <dgm:cxn modelId="{8ED973C6-C772-448F-93FE-F83E904A10FF}" type="presOf" srcId="{8C576E30-154E-4D0E-8E65-B702596965BA}" destId="{55ABF151-644F-4ACD-8273-A24AFE606849}" srcOrd="0" destOrd="0" presId="urn:microsoft.com/office/officeart/2011/layout/HexagonRadial"/>
    <dgm:cxn modelId="{185B5154-847E-4906-A179-2093D8324BDC}" srcId="{496BC748-AB82-4F06-8625-EBE77D308954}" destId="{E4B3A3A7-3C32-463B-8BB4-89522664646E}" srcOrd="2" destOrd="0" parTransId="{165EE50F-9366-4A8C-958A-8B4FBD85B7E8}" sibTransId="{18FAC8B4-D9A4-4872-A64E-BEC1D69C5D72}"/>
    <dgm:cxn modelId="{8F104959-DC8D-4F52-B02D-DBDCB6A9FA0F}" srcId="{496BC748-AB82-4F06-8625-EBE77D308954}" destId="{C2CF6170-2147-491E-A682-CFC9D12086EC}" srcOrd="5" destOrd="0" parTransId="{223B5CD1-6C2F-4272-86B4-3CCB50DBD625}" sibTransId="{88B14F49-5568-4605-B567-329ADE782868}"/>
    <dgm:cxn modelId="{4B55C56C-E4E8-4A56-B883-B4880D7E9367}" type="presOf" srcId="{C2CF6170-2147-491E-A682-CFC9D12086EC}" destId="{CF3311D9-BF5F-4175-A35C-0F3BF80ECF54}" srcOrd="0" destOrd="0" presId="urn:microsoft.com/office/officeart/2011/layout/HexagonRadial"/>
    <dgm:cxn modelId="{9807EA58-AF1F-4A66-A6C2-5D37D68BE4BD}" srcId="{496BC748-AB82-4F06-8625-EBE77D308954}" destId="{F57A9413-4F68-43EE-A7EE-ACB714722252}" srcOrd="4" destOrd="0" parTransId="{655E2259-2B87-47D3-B5DC-6840D558180E}" sibTransId="{FA1ADCDF-813C-40F8-9B4B-7935D33FB7E1}"/>
    <dgm:cxn modelId="{A021825C-6827-4822-A4F5-0FDADF89F88B}" type="presParOf" srcId="{0A7723C8-96BC-49AC-9431-6691D520271F}" destId="{EC323E79-F62C-4A5F-A580-24F472F66F12}" srcOrd="0" destOrd="0" presId="urn:microsoft.com/office/officeart/2011/layout/HexagonRadial"/>
    <dgm:cxn modelId="{356E0237-14EB-4AC3-B021-71F1D56E5B94}" type="presParOf" srcId="{0A7723C8-96BC-49AC-9431-6691D520271F}" destId="{AA7BBA41-8EC3-4437-94DE-F432D9FCF911}" srcOrd="1" destOrd="0" presId="urn:microsoft.com/office/officeart/2011/layout/HexagonRadial"/>
    <dgm:cxn modelId="{0B72C4A6-369C-41AA-A6E7-414B7785D561}" type="presParOf" srcId="{AA7BBA41-8EC3-4437-94DE-F432D9FCF911}" destId="{3A131B29-B923-4C11-B057-A01BD6F379B9}" srcOrd="0" destOrd="0" presId="urn:microsoft.com/office/officeart/2011/layout/HexagonRadial"/>
    <dgm:cxn modelId="{2B411B7F-3F2C-48A6-833A-EF350371014B}" type="presParOf" srcId="{0A7723C8-96BC-49AC-9431-6691D520271F}" destId="{48F96F24-2E46-47AE-93B6-DF0EC4EBF7F1}" srcOrd="2" destOrd="0" presId="urn:microsoft.com/office/officeart/2011/layout/HexagonRadial"/>
    <dgm:cxn modelId="{BD2FB48E-523A-4503-ADE4-903B3678E673}" type="presParOf" srcId="{0A7723C8-96BC-49AC-9431-6691D520271F}" destId="{0443A145-3F4E-41EF-9C76-6BECD6F95A91}" srcOrd="3" destOrd="0" presId="urn:microsoft.com/office/officeart/2011/layout/HexagonRadial"/>
    <dgm:cxn modelId="{A7DBD433-B233-496F-9FDF-5815D9C2C638}" type="presParOf" srcId="{0443A145-3F4E-41EF-9C76-6BECD6F95A91}" destId="{200DB8D8-56EA-4BCE-9955-4723E6AD5F0F}" srcOrd="0" destOrd="0" presId="urn:microsoft.com/office/officeart/2011/layout/HexagonRadial"/>
    <dgm:cxn modelId="{EABC3A00-7B1E-435B-800B-3E8D6EF8F44B}" type="presParOf" srcId="{0A7723C8-96BC-49AC-9431-6691D520271F}" destId="{4BF0E5ED-1775-41A2-8385-C212DD62897A}" srcOrd="4" destOrd="0" presId="urn:microsoft.com/office/officeart/2011/layout/HexagonRadial"/>
    <dgm:cxn modelId="{8A452718-F74B-4196-9475-36D1D6ECEC51}" type="presParOf" srcId="{0A7723C8-96BC-49AC-9431-6691D520271F}" destId="{0ABB7554-CED0-450E-B295-3C5555265EF5}" srcOrd="5" destOrd="0" presId="urn:microsoft.com/office/officeart/2011/layout/HexagonRadial"/>
    <dgm:cxn modelId="{3314181D-FEA6-422F-BAEC-62C435A495D2}" type="presParOf" srcId="{0ABB7554-CED0-450E-B295-3C5555265EF5}" destId="{E6F83EE2-8ADE-4BDE-AABC-7C09D7876A26}" srcOrd="0" destOrd="0" presId="urn:microsoft.com/office/officeart/2011/layout/HexagonRadial"/>
    <dgm:cxn modelId="{EA0E76E8-55AF-410C-B382-A5CCA6E5CED5}" type="presParOf" srcId="{0A7723C8-96BC-49AC-9431-6691D520271F}" destId="{C2A16AF4-F901-4791-9F17-A3AA24254AD0}" srcOrd="6" destOrd="0" presId="urn:microsoft.com/office/officeart/2011/layout/HexagonRadial"/>
    <dgm:cxn modelId="{F110BBC8-4430-4E34-87C8-65E55EE2E4CA}" type="presParOf" srcId="{0A7723C8-96BC-49AC-9431-6691D520271F}" destId="{C848AD57-E4C6-45DA-BA38-2166215A9771}" srcOrd="7" destOrd="0" presId="urn:microsoft.com/office/officeart/2011/layout/HexagonRadial"/>
    <dgm:cxn modelId="{811E811B-60DD-4098-9833-CCAB004A3238}" type="presParOf" srcId="{C848AD57-E4C6-45DA-BA38-2166215A9771}" destId="{F8E8CA12-2288-48A6-9600-9BFF65DACEE7}" srcOrd="0" destOrd="0" presId="urn:microsoft.com/office/officeart/2011/layout/HexagonRadial"/>
    <dgm:cxn modelId="{BD0997F9-ED1C-44DC-B23C-6CB76CE5A93A}" type="presParOf" srcId="{0A7723C8-96BC-49AC-9431-6691D520271F}" destId="{55ABF151-644F-4ACD-8273-A24AFE606849}" srcOrd="8" destOrd="0" presId="urn:microsoft.com/office/officeart/2011/layout/HexagonRadial"/>
    <dgm:cxn modelId="{A2ED9E23-8932-4BE6-BCFD-BECE49F428D3}" type="presParOf" srcId="{0A7723C8-96BC-49AC-9431-6691D520271F}" destId="{C58CB324-132A-4A4F-9998-A2DE50E3A61B}" srcOrd="9" destOrd="0" presId="urn:microsoft.com/office/officeart/2011/layout/HexagonRadial"/>
    <dgm:cxn modelId="{037423B9-477B-4210-9CE4-77E341B9CE29}" type="presParOf" srcId="{C58CB324-132A-4A4F-9998-A2DE50E3A61B}" destId="{223D52EF-B2FF-4903-B474-FBDD3D58777E}" srcOrd="0" destOrd="0" presId="urn:microsoft.com/office/officeart/2011/layout/HexagonRadial"/>
    <dgm:cxn modelId="{4EDC8EBD-2FBE-4DA0-A967-8C03A639BD34}" type="presParOf" srcId="{0A7723C8-96BC-49AC-9431-6691D520271F}" destId="{AEBF76B5-CF75-47D1-9899-0DF6A7382B72}" srcOrd="10" destOrd="0" presId="urn:microsoft.com/office/officeart/2011/layout/HexagonRadial"/>
    <dgm:cxn modelId="{21BF1788-E89F-4093-8E5D-D218A532C2A0}" type="presParOf" srcId="{0A7723C8-96BC-49AC-9431-6691D520271F}" destId="{F93A1FA1-9262-4039-89D5-8B7AAAF4EAE4}" srcOrd="11" destOrd="0" presId="urn:microsoft.com/office/officeart/2011/layout/HexagonRadial"/>
    <dgm:cxn modelId="{F99888C1-4D27-4817-A3E2-851AD7F8CF0D}" type="presParOf" srcId="{F93A1FA1-9262-4039-89D5-8B7AAAF4EAE4}" destId="{76A4D6D3-0F0F-4FF0-8A6F-D75DF3440237}" srcOrd="0" destOrd="0" presId="urn:microsoft.com/office/officeart/2011/layout/HexagonRadial"/>
    <dgm:cxn modelId="{D4C8C5EF-0FEB-4F3E-82EA-EA4E15C84F5A}" type="presParOf" srcId="{0A7723C8-96BC-49AC-9431-6691D520271F}" destId="{CF3311D9-BF5F-4175-A35C-0F3BF80ECF54}"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23DCAF-8B0F-85AC-61C7-B3748880D5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xmlns="" id="{D9B8F0EC-B551-EF72-5BE1-14DD57F682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xmlns="" id="{B4E3B106-346E-852D-0828-9284B2E2694D}"/>
              </a:ext>
            </a:extLst>
          </p:cNvPr>
          <p:cNvSpPr>
            <a:spLocks noGrp="1"/>
          </p:cNvSpPr>
          <p:nvPr>
            <p:ph type="dt" sz="half" idx="10"/>
          </p:nvPr>
        </p:nvSpPr>
        <p:spPr/>
        <p:txBody>
          <a:bodyPr/>
          <a:lstStyle/>
          <a:p>
            <a:fld id="{421AFD67-65A3-483E-92C3-9E47E3573492}" type="datetimeFigureOut">
              <a:rPr lang="x-none" smtClean="0"/>
              <a:t>2/7/2025</a:t>
            </a:fld>
            <a:endParaRPr lang="x-none"/>
          </a:p>
        </p:txBody>
      </p:sp>
      <p:sp>
        <p:nvSpPr>
          <p:cNvPr id="5" name="Footer Placeholder 4">
            <a:extLst>
              <a:ext uri="{FF2B5EF4-FFF2-40B4-BE49-F238E27FC236}">
                <a16:creationId xmlns:a16="http://schemas.microsoft.com/office/drawing/2014/main" xmlns="" id="{705B9CDD-8397-D110-34FC-7335EBA18F26}"/>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5A55DA25-E925-E2B8-103E-9610DFCCB1EA}"/>
              </a:ext>
            </a:extLst>
          </p:cNvPr>
          <p:cNvSpPr>
            <a:spLocks noGrp="1"/>
          </p:cNvSpPr>
          <p:nvPr>
            <p:ph type="sldNum" sz="quarter" idx="12"/>
          </p:nvPr>
        </p:nvSpPr>
        <p:spPr/>
        <p:txBody>
          <a:bodyPr/>
          <a:lstStyle/>
          <a:p>
            <a:fld id="{5462E360-54B0-4482-863D-E18DAA219985}" type="slidenum">
              <a:rPr lang="x-none" smtClean="0"/>
              <a:t>‹#›</a:t>
            </a:fld>
            <a:endParaRPr lang="x-none"/>
          </a:p>
        </p:txBody>
      </p:sp>
    </p:spTree>
    <p:extLst>
      <p:ext uri="{BB962C8B-B14F-4D97-AF65-F5344CB8AC3E}">
        <p14:creationId xmlns:p14="http://schemas.microsoft.com/office/powerpoint/2010/main" val="557296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B912AC-C707-3B0A-CAEB-A7E1C3914550}"/>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640DCEFA-9CD6-C69B-55EF-0D79CD0DCC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2F7A5544-1440-7263-DD0E-201936B95D3A}"/>
              </a:ext>
            </a:extLst>
          </p:cNvPr>
          <p:cNvSpPr>
            <a:spLocks noGrp="1"/>
          </p:cNvSpPr>
          <p:nvPr>
            <p:ph type="dt" sz="half" idx="10"/>
          </p:nvPr>
        </p:nvSpPr>
        <p:spPr/>
        <p:txBody>
          <a:bodyPr/>
          <a:lstStyle/>
          <a:p>
            <a:fld id="{421AFD67-65A3-483E-92C3-9E47E3573492}" type="datetimeFigureOut">
              <a:rPr lang="x-none" smtClean="0"/>
              <a:t>2/7/2025</a:t>
            </a:fld>
            <a:endParaRPr lang="x-none"/>
          </a:p>
        </p:txBody>
      </p:sp>
      <p:sp>
        <p:nvSpPr>
          <p:cNvPr id="5" name="Footer Placeholder 4">
            <a:extLst>
              <a:ext uri="{FF2B5EF4-FFF2-40B4-BE49-F238E27FC236}">
                <a16:creationId xmlns:a16="http://schemas.microsoft.com/office/drawing/2014/main" xmlns="" id="{DFCBEAB2-AD5A-62E1-25C2-1F0F018A28D6}"/>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059909D0-2284-6CBF-74E1-4872E09198E4}"/>
              </a:ext>
            </a:extLst>
          </p:cNvPr>
          <p:cNvSpPr>
            <a:spLocks noGrp="1"/>
          </p:cNvSpPr>
          <p:nvPr>
            <p:ph type="sldNum" sz="quarter" idx="12"/>
          </p:nvPr>
        </p:nvSpPr>
        <p:spPr/>
        <p:txBody>
          <a:bodyPr/>
          <a:lstStyle/>
          <a:p>
            <a:fld id="{5462E360-54B0-4482-863D-E18DAA219985}" type="slidenum">
              <a:rPr lang="x-none" smtClean="0"/>
              <a:t>‹#›</a:t>
            </a:fld>
            <a:endParaRPr lang="x-none"/>
          </a:p>
        </p:txBody>
      </p:sp>
    </p:spTree>
    <p:extLst>
      <p:ext uri="{BB962C8B-B14F-4D97-AF65-F5344CB8AC3E}">
        <p14:creationId xmlns:p14="http://schemas.microsoft.com/office/powerpoint/2010/main" val="1448846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FDCCF0-F8CE-E9FE-8858-760FE69FD7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167E0255-BB87-98C8-6DCF-7313905546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ECAFE16D-8C5E-E92C-1086-368DAD3657D3}"/>
              </a:ext>
            </a:extLst>
          </p:cNvPr>
          <p:cNvSpPr>
            <a:spLocks noGrp="1"/>
          </p:cNvSpPr>
          <p:nvPr>
            <p:ph type="dt" sz="half" idx="10"/>
          </p:nvPr>
        </p:nvSpPr>
        <p:spPr/>
        <p:txBody>
          <a:bodyPr/>
          <a:lstStyle/>
          <a:p>
            <a:fld id="{421AFD67-65A3-483E-92C3-9E47E3573492}" type="datetimeFigureOut">
              <a:rPr lang="x-none" smtClean="0"/>
              <a:t>2/7/2025</a:t>
            </a:fld>
            <a:endParaRPr lang="x-none"/>
          </a:p>
        </p:txBody>
      </p:sp>
      <p:sp>
        <p:nvSpPr>
          <p:cNvPr id="5" name="Footer Placeholder 4">
            <a:extLst>
              <a:ext uri="{FF2B5EF4-FFF2-40B4-BE49-F238E27FC236}">
                <a16:creationId xmlns:a16="http://schemas.microsoft.com/office/drawing/2014/main" xmlns="" id="{F8F2B708-86CD-A8DE-ECC8-D0E01885BF2C}"/>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F22946B8-EBEB-C8D6-6077-D563F102593D}"/>
              </a:ext>
            </a:extLst>
          </p:cNvPr>
          <p:cNvSpPr>
            <a:spLocks noGrp="1"/>
          </p:cNvSpPr>
          <p:nvPr>
            <p:ph type="sldNum" sz="quarter" idx="12"/>
          </p:nvPr>
        </p:nvSpPr>
        <p:spPr/>
        <p:txBody>
          <a:bodyPr/>
          <a:lstStyle/>
          <a:p>
            <a:fld id="{5462E360-54B0-4482-863D-E18DAA219985}" type="slidenum">
              <a:rPr lang="x-none" smtClean="0"/>
              <a:t>‹#›</a:t>
            </a:fld>
            <a:endParaRPr lang="x-none"/>
          </a:p>
        </p:txBody>
      </p:sp>
    </p:spTree>
    <p:extLst>
      <p:ext uri="{BB962C8B-B14F-4D97-AF65-F5344CB8AC3E}">
        <p14:creationId xmlns:p14="http://schemas.microsoft.com/office/powerpoint/2010/main" val="1344561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20042D-4E45-4C4A-8EAF-20C22E0E40EE}"/>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03C452DE-2231-4052-35A8-551E4CCCDA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xmlns="" id="{A59B89A4-F2FD-B87C-E70E-BCFD7699F0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xmlns="" id="{739F7131-F515-D415-A049-5ED689383760}"/>
              </a:ext>
            </a:extLst>
          </p:cNvPr>
          <p:cNvSpPr>
            <a:spLocks noGrp="1"/>
          </p:cNvSpPr>
          <p:nvPr>
            <p:ph type="dt" sz="half" idx="10"/>
          </p:nvPr>
        </p:nvSpPr>
        <p:spPr/>
        <p:txBody>
          <a:bodyPr/>
          <a:lstStyle/>
          <a:p>
            <a:fld id="{421AFD67-65A3-483E-92C3-9E47E3573492}" type="datetimeFigureOut">
              <a:rPr lang="x-none" smtClean="0"/>
              <a:t>2/7/2025</a:t>
            </a:fld>
            <a:endParaRPr lang="x-none"/>
          </a:p>
        </p:txBody>
      </p:sp>
      <p:sp>
        <p:nvSpPr>
          <p:cNvPr id="6" name="Footer Placeholder 5">
            <a:extLst>
              <a:ext uri="{FF2B5EF4-FFF2-40B4-BE49-F238E27FC236}">
                <a16:creationId xmlns:a16="http://schemas.microsoft.com/office/drawing/2014/main" xmlns="" id="{DFD04F7E-BF8F-C92D-6A16-39378C2E1671}"/>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868E5378-41E1-5EE0-AD59-9C2556AABDAE}"/>
              </a:ext>
            </a:extLst>
          </p:cNvPr>
          <p:cNvSpPr>
            <a:spLocks noGrp="1"/>
          </p:cNvSpPr>
          <p:nvPr>
            <p:ph type="sldNum" sz="quarter" idx="12"/>
          </p:nvPr>
        </p:nvSpPr>
        <p:spPr/>
        <p:txBody>
          <a:bodyPr/>
          <a:lstStyle/>
          <a:p>
            <a:fld id="{5462E360-54B0-4482-863D-E18DAA219985}" type="slidenum">
              <a:rPr lang="x-none" smtClean="0"/>
              <a:t>‹#›</a:t>
            </a:fld>
            <a:endParaRPr lang="x-none"/>
          </a:p>
        </p:txBody>
      </p:sp>
    </p:spTree>
    <p:extLst>
      <p:ext uri="{BB962C8B-B14F-4D97-AF65-F5344CB8AC3E}">
        <p14:creationId xmlns:p14="http://schemas.microsoft.com/office/powerpoint/2010/main" val="2445451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685DC9-95B8-0A0C-C064-038D9C3213E7}"/>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CFA2C0EE-1284-FEED-A4E0-4CA7851356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81E90121-7B21-B186-BA0A-015C4C3F1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xmlns="" id="{25D77B7A-19E7-D940-F1E9-0BBA552DD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DDC0CA3F-F9E9-5277-351E-DF1A4317D3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xmlns="" id="{46B7C9C7-CFA8-CF4F-77C7-1227B65A381C}"/>
              </a:ext>
            </a:extLst>
          </p:cNvPr>
          <p:cNvSpPr>
            <a:spLocks noGrp="1"/>
          </p:cNvSpPr>
          <p:nvPr>
            <p:ph type="dt" sz="half" idx="10"/>
          </p:nvPr>
        </p:nvSpPr>
        <p:spPr/>
        <p:txBody>
          <a:bodyPr/>
          <a:lstStyle/>
          <a:p>
            <a:fld id="{421AFD67-65A3-483E-92C3-9E47E3573492}" type="datetimeFigureOut">
              <a:rPr lang="x-none" smtClean="0"/>
              <a:t>2/7/2025</a:t>
            </a:fld>
            <a:endParaRPr lang="x-none"/>
          </a:p>
        </p:txBody>
      </p:sp>
      <p:sp>
        <p:nvSpPr>
          <p:cNvPr id="8" name="Footer Placeholder 7">
            <a:extLst>
              <a:ext uri="{FF2B5EF4-FFF2-40B4-BE49-F238E27FC236}">
                <a16:creationId xmlns:a16="http://schemas.microsoft.com/office/drawing/2014/main" xmlns="" id="{138D1022-3770-37C5-0A2D-35FE2B9C8069}"/>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xmlns="" id="{B4ED1003-7C47-2479-1F66-B75E61BEBC0E}"/>
              </a:ext>
            </a:extLst>
          </p:cNvPr>
          <p:cNvSpPr>
            <a:spLocks noGrp="1"/>
          </p:cNvSpPr>
          <p:nvPr>
            <p:ph type="sldNum" sz="quarter" idx="12"/>
          </p:nvPr>
        </p:nvSpPr>
        <p:spPr/>
        <p:txBody>
          <a:bodyPr/>
          <a:lstStyle/>
          <a:p>
            <a:fld id="{5462E360-54B0-4482-863D-E18DAA219985}" type="slidenum">
              <a:rPr lang="x-none" smtClean="0"/>
              <a:t>‹#›</a:t>
            </a:fld>
            <a:endParaRPr lang="x-none"/>
          </a:p>
        </p:txBody>
      </p:sp>
    </p:spTree>
    <p:extLst>
      <p:ext uri="{BB962C8B-B14F-4D97-AF65-F5344CB8AC3E}">
        <p14:creationId xmlns:p14="http://schemas.microsoft.com/office/powerpoint/2010/main" val="793602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6B3232-0F10-9A5B-1245-32681206A14B}"/>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xmlns="" id="{94F5033B-A7C1-D5E4-F02B-DD58FFC197CC}"/>
              </a:ext>
            </a:extLst>
          </p:cNvPr>
          <p:cNvSpPr>
            <a:spLocks noGrp="1"/>
          </p:cNvSpPr>
          <p:nvPr>
            <p:ph type="dt" sz="half" idx="10"/>
          </p:nvPr>
        </p:nvSpPr>
        <p:spPr/>
        <p:txBody>
          <a:bodyPr/>
          <a:lstStyle/>
          <a:p>
            <a:fld id="{421AFD67-65A3-483E-92C3-9E47E3573492}" type="datetimeFigureOut">
              <a:rPr lang="x-none" smtClean="0"/>
              <a:t>2/7/2025</a:t>
            </a:fld>
            <a:endParaRPr lang="x-none"/>
          </a:p>
        </p:txBody>
      </p:sp>
      <p:sp>
        <p:nvSpPr>
          <p:cNvPr id="4" name="Footer Placeholder 3">
            <a:extLst>
              <a:ext uri="{FF2B5EF4-FFF2-40B4-BE49-F238E27FC236}">
                <a16:creationId xmlns:a16="http://schemas.microsoft.com/office/drawing/2014/main" xmlns="" id="{A936A775-4062-B5A4-9999-80C8F5CF4CD8}"/>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xmlns="" id="{686C4314-EA35-9EA4-1283-8C5BF377DB34}"/>
              </a:ext>
            </a:extLst>
          </p:cNvPr>
          <p:cNvSpPr>
            <a:spLocks noGrp="1"/>
          </p:cNvSpPr>
          <p:nvPr>
            <p:ph type="sldNum" sz="quarter" idx="12"/>
          </p:nvPr>
        </p:nvSpPr>
        <p:spPr/>
        <p:txBody>
          <a:bodyPr/>
          <a:lstStyle/>
          <a:p>
            <a:fld id="{5462E360-54B0-4482-863D-E18DAA219985}" type="slidenum">
              <a:rPr lang="x-none" smtClean="0"/>
              <a:t>‹#›</a:t>
            </a:fld>
            <a:endParaRPr lang="x-none"/>
          </a:p>
        </p:txBody>
      </p:sp>
    </p:spTree>
    <p:extLst>
      <p:ext uri="{BB962C8B-B14F-4D97-AF65-F5344CB8AC3E}">
        <p14:creationId xmlns:p14="http://schemas.microsoft.com/office/powerpoint/2010/main" val="3728230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F651533-12BF-DD51-BFAD-28C45A8A3479}"/>
              </a:ext>
            </a:extLst>
          </p:cNvPr>
          <p:cNvSpPr>
            <a:spLocks noGrp="1"/>
          </p:cNvSpPr>
          <p:nvPr>
            <p:ph type="dt" sz="half" idx="10"/>
          </p:nvPr>
        </p:nvSpPr>
        <p:spPr/>
        <p:txBody>
          <a:bodyPr/>
          <a:lstStyle/>
          <a:p>
            <a:fld id="{421AFD67-65A3-483E-92C3-9E47E3573492}" type="datetimeFigureOut">
              <a:rPr lang="x-none" smtClean="0"/>
              <a:t>2/7/2025</a:t>
            </a:fld>
            <a:endParaRPr lang="x-none"/>
          </a:p>
        </p:txBody>
      </p:sp>
      <p:sp>
        <p:nvSpPr>
          <p:cNvPr id="3" name="Footer Placeholder 2">
            <a:extLst>
              <a:ext uri="{FF2B5EF4-FFF2-40B4-BE49-F238E27FC236}">
                <a16:creationId xmlns:a16="http://schemas.microsoft.com/office/drawing/2014/main" xmlns="" id="{04DBF317-7E01-F3E0-2E50-510476124B4E}"/>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xmlns="" id="{7470E47A-2C3D-F6CC-5122-8513E28B3FF1}"/>
              </a:ext>
            </a:extLst>
          </p:cNvPr>
          <p:cNvSpPr>
            <a:spLocks noGrp="1"/>
          </p:cNvSpPr>
          <p:nvPr>
            <p:ph type="sldNum" sz="quarter" idx="12"/>
          </p:nvPr>
        </p:nvSpPr>
        <p:spPr/>
        <p:txBody>
          <a:bodyPr/>
          <a:lstStyle/>
          <a:p>
            <a:fld id="{5462E360-54B0-4482-863D-E18DAA219985}" type="slidenum">
              <a:rPr lang="x-none" smtClean="0"/>
              <a:t>‹#›</a:t>
            </a:fld>
            <a:endParaRPr lang="x-none"/>
          </a:p>
        </p:txBody>
      </p:sp>
    </p:spTree>
    <p:extLst>
      <p:ext uri="{BB962C8B-B14F-4D97-AF65-F5344CB8AC3E}">
        <p14:creationId xmlns:p14="http://schemas.microsoft.com/office/powerpoint/2010/main" val="174382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D38972-1CA0-1A42-C89B-4B29D60A20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E573E023-1CE9-7AC6-6EC9-35865200EC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xmlns="" id="{74EA0492-A542-B717-72A9-BBBF23D3DF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731B46F-CD23-741D-DBB3-5F567E7CBD4E}"/>
              </a:ext>
            </a:extLst>
          </p:cNvPr>
          <p:cNvSpPr>
            <a:spLocks noGrp="1"/>
          </p:cNvSpPr>
          <p:nvPr>
            <p:ph type="dt" sz="half" idx="10"/>
          </p:nvPr>
        </p:nvSpPr>
        <p:spPr/>
        <p:txBody>
          <a:bodyPr/>
          <a:lstStyle/>
          <a:p>
            <a:fld id="{421AFD67-65A3-483E-92C3-9E47E3573492}" type="datetimeFigureOut">
              <a:rPr lang="x-none" smtClean="0"/>
              <a:t>2/7/2025</a:t>
            </a:fld>
            <a:endParaRPr lang="x-none"/>
          </a:p>
        </p:txBody>
      </p:sp>
      <p:sp>
        <p:nvSpPr>
          <p:cNvPr id="6" name="Footer Placeholder 5">
            <a:extLst>
              <a:ext uri="{FF2B5EF4-FFF2-40B4-BE49-F238E27FC236}">
                <a16:creationId xmlns:a16="http://schemas.microsoft.com/office/drawing/2014/main" xmlns="" id="{58BD881D-414A-4728-B0B5-BD829D6823C0}"/>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C8F61545-A7BA-FA83-D841-4B8B3EE4B938}"/>
              </a:ext>
            </a:extLst>
          </p:cNvPr>
          <p:cNvSpPr>
            <a:spLocks noGrp="1"/>
          </p:cNvSpPr>
          <p:nvPr>
            <p:ph type="sldNum" sz="quarter" idx="12"/>
          </p:nvPr>
        </p:nvSpPr>
        <p:spPr/>
        <p:txBody>
          <a:bodyPr/>
          <a:lstStyle/>
          <a:p>
            <a:fld id="{5462E360-54B0-4482-863D-E18DAA219985}" type="slidenum">
              <a:rPr lang="x-none" smtClean="0"/>
              <a:t>‹#›</a:t>
            </a:fld>
            <a:endParaRPr lang="x-none"/>
          </a:p>
        </p:txBody>
      </p:sp>
    </p:spTree>
    <p:extLst>
      <p:ext uri="{BB962C8B-B14F-4D97-AF65-F5344CB8AC3E}">
        <p14:creationId xmlns:p14="http://schemas.microsoft.com/office/powerpoint/2010/main" val="1523181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896EA0-F2E3-0088-885A-D52161B95F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xmlns="" id="{1488284D-8F2A-2457-1171-ED59B55435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xmlns="" id="{AF85B0C7-E96F-E809-EE73-180654630E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49B7A9B-CF3F-F509-A73B-DFA6D0EB68BC}"/>
              </a:ext>
            </a:extLst>
          </p:cNvPr>
          <p:cNvSpPr>
            <a:spLocks noGrp="1"/>
          </p:cNvSpPr>
          <p:nvPr>
            <p:ph type="dt" sz="half" idx="10"/>
          </p:nvPr>
        </p:nvSpPr>
        <p:spPr/>
        <p:txBody>
          <a:bodyPr/>
          <a:lstStyle/>
          <a:p>
            <a:fld id="{421AFD67-65A3-483E-92C3-9E47E3573492}" type="datetimeFigureOut">
              <a:rPr lang="x-none" smtClean="0"/>
              <a:t>2/7/2025</a:t>
            </a:fld>
            <a:endParaRPr lang="x-none"/>
          </a:p>
        </p:txBody>
      </p:sp>
      <p:sp>
        <p:nvSpPr>
          <p:cNvPr id="6" name="Footer Placeholder 5">
            <a:extLst>
              <a:ext uri="{FF2B5EF4-FFF2-40B4-BE49-F238E27FC236}">
                <a16:creationId xmlns:a16="http://schemas.microsoft.com/office/drawing/2014/main" xmlns="" id="{CA958FDC-B0D6-CE44-5DEB-695A06CF2AAD}"/>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1E0FF58B-32D0-6DB1-3F64-326389197C87}"/>
              </a:ext>
            </a:extLst>
          </p:cNvPr>
          <p:cNvSpPr>
            <a:spLocks noGrp="1"/>
          </p:cNvSpPr>
          <p:nvPr>
            <p:ph type="sldNum" sz="quarter" idx="12"/>
          </p:nvPr>
        </p:nvSpPr>
        <p:spPr/>
        <p:txBody>
          <a:bodyPr/>
          <a:lstStyle/>
          <a:p>
            <a:fld id="{5462E360-54B0-4482-863D-E18DAA219985}" type="slidenum">
              <a:rPr lang="x-none" smtClean="0"/>
              <a:t>‹#›</a:t>
            </a:fld>
            <a:endParaRPr lang="x-none"/>
          </a:p>
        </p:txBody>
      </p:sp>
    </p:spTree>
    <p:extLst>
      <p:ext uri="{BB962C8B-B14F-4D97-AF65-F5344CB8AC3E}">
        <p14:creationId xmlns:p14="http://schemas.microsoft.com/office/powerpoint/2010/main" val="1398224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17AA19-352A-F50E-D4D4-7996EFB63CE4}"/>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FF4990E5-E07E-9069-697F-EC0BD7F19F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9F8CDAA8-3474-2DC8-3A1C-305DF60292BF}"/>
              </a:ext>
            </a:extLst>
          </p:cNvPr>
          <p:cNvSpPr>
            <a:spLocks noGrp="1"/>
          </p:cNvSpPr>
          <p:nvPr>
            <p:ph type="dt" sz="half" idx="10"/>
          </p:nvPr>
        </p:nvSpPr>
        <p:spPr/>
        <p:txBody>
          <a:bodyPr/>
          <a:lstStyle/>
          <a:p>
            <a:fld id="{421AFD67-65A3-483E-92C3-9E47E3573492}" type="datetimeFigureOut">
              <a:rPr lang="x-none" smtClean="0"/>
              <a:t>2/7/2025</a:t>
            </a:fld>
            <a:endParaRPr lang="x-none"/>
          </a:p>
        </p:txBody>
      </p:sp>
      <p:sp>
        <p:nvSpPr>
          <p:cNvPr id="5" name="Footer Placeholder 4">
            <a:extLst>
              <a:ext uri="{FF2B5EF4-FFF2-40B4-BE49-F238E27FC236}">
                <a16:creationId xmlns:a16="http://schemas.microsoft.com/office/drawing/2014/main" xmlns="" id="{06941F5B-480D-66C0-4E1B-146ED8544D9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63F535AE-8631-5653-501D-D50FEC2E3CE6}"/>
              </a:ext>
            </a:extLst>
          </p:cNvPr>
          <p:cNvSpPr>
            <a:spLocks noGrp="1"/>
          </p:cNvSpPr>
          <p:nvPr>
            <p:ph type="sldNum" sz="quarter" idx="12"/>
          </p:nvPr>
        </p:nvSpPr>
        <p:spPr/>
        <p:txBody>
          <a:bodyPr/>
          <a:lstStyle/>
          <a:p>
            <a:fld id="{5462E360-54B0-4482-863D-E18DAA219985}" type="slidenum">
              <a:rPr lang="x-none" smtClean="0"/>
              <a:t>‹#›</a:t>
            </a:fld>
            <a:endParaRPr lang="x-none"/>
          </a:p>
        </p:txBody>
      </p:sp>
    </p:spTree>
    <p:extLst>
      <p:ext uri="{BB962C8B-B14F-4D97-AF65-F5344CB8AC3E}">
        <p14:creationId xmlns:p14="http://schemas.microsoft.com/office/powerpoint/2010/main" val="2940288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18B3B4CE-AFC9-838A-F697-87F2F68BF5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C8E2AAC1-4ED7-99CE-1DC0-471AF36FFD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E11A08D3-9E3E-AF5C-A968-F6D8AB36EE53}"/>
              </a:ext>
            </a:extLst>
          </p:cNvPr>
          <p:cNvSpPr>
            <a:spLocks noGrp="1"/>
          </p:cNvSpPr>
          <p:nvPr>
            <p:ph type="dt" sz="half" idx="10"/>
          </p:nvPr>
        </p:nvSpPr>
        <p:spPr/>
        <p:txBody>
          <a:bodyPr/>
          <a:lstStyle/>
          <a:p>
            <a:fld id="{421AFD67-65A3-483E-92C3-9E47E3573492}" type="datetimeFigureOut">
              <a:rPr lang="x-none" smtClean="0"/>
              <a:t>2/7/2025</a:t>
            </a:fld>
            <a:endParaRPr lang="x-none"/>
          </a:p>
        </p:txBody>
      </p:sp>
      <p:sp>
        <p:nvSpPr>
          <p:cNvPr id="5" name="Footer Placeholder 4">
            <a:extLst>
              <a:ext uri="{FF2B5EF4-FFF2-40B4-BE49-F238E27FC236}">
                <a16:creationId xmlns:a16="http://schemas.microsoft.com/office/drawing/2014/main" xmlns="" id="{7BC83AA9-07E1-9A86-8DD1-1D77ACB8DF22}"/>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674334DE-D5E6-8090-37E8-C4E201BEAE84}"/>
              </a:ext>
            </a:extLst>
          </p:cNvPr>
          <p:cNvSpPr>
            <a:spLocks noGrp="1"/>
          </p:cNvSpPr>
          <p:nvPr>
            <p:ph type="sldNum" sz="quarter" idx="12"/>
          </p:nvPr>
        </p:nvSpPr>
        <p:spPr/>
        <p:txBody>
          <a:bodyPr/>
          <a:lstStyle/>
          <a:p>
            <a:fld id="{5462E360-54B0-4482-863D-E18DAA219985}" type="slidenum">
              <a:rPr lang="x-none" smtClean="0"/>
              <a:t>‹#›</a:t>
            </a:fld>
            <a:endParaRPr lang="x-none"/>
          </a:p>
        </p:txBody>
      </p:sp>
    </p:spTree>
    <p:extLst>
      <p:ext uri="{BB962C8B-B14F-4D97-AF65-F5344CB8AC3E}">
        <p14:creationId xmlns:p14="http://schemas.microsoft.com/office/powerpoint/2010/main" val="3857493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637B1576-B601-76B6-EDF2-7A603ECC05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ED6FCD42-4CDE-FD0E-0CF8-41EB240E55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3019748C-505B-8B1C-6976-5353782889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1AFD67-65A3-483E-92C3-9E47E3573492}" type="datetimeFigureOut">
              <a:rPr lang="x-none" smtClean="0"/>
              <a:t>2/7/2025</a:t>
            </a:fld>
            <a:endParaRPr lang="x-none"/>
          </a:p>
        </p:txBody>
      </p:sp>
      <p:sp>
        <p:nvSpPr>
          <p:cNvPr id="5" name="Footer Placeholder 4">
            <a:extLst>
              <a:ext uri="{FF2B5EF4-FFF2-40B4-BE49-F238E27FC236}">
                <a16:creationId xmlns:a16="http://schemas.microsoft.com/office/drawing/2014/main" xmlns="" id="{ADCDA034-E888-70FC-D3BB-4F2393E245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xmlns="" id="{5F1FF040-3C4E-7016-63AF-4ABC496062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62E360-54B0-4482-863D-E18DAA219985}" type="slidenum">
              <a:rPr lang="x-none" smtClean="0"/>
              <a:t>‹#›</a:t>
            </a:fld>
            <a:endParaRPr lang="x-none"/>
          </a:p>
        </p:txBody>
      </p:sp>
    </p:spTree>
    <p:extLst>
      <p:ext uri="{BB962C8B-B14F-4D97-AF65-F5344CB8AC3E}">
        <p14:creationId xmlns:p14="http://schemas.microsoft.com/office/powerpoint/2010/main" val="3188201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2C96D6-E199-718D-D374-12462CF7605E}"/>
              </a:ext>
            </a:extLst>
          </p:cNvPr>
          <p:cNvSpPr>
            <a:spLocks noGrp="1"/>
          </p:cNvSpPr>
          <p:nvPr>
            <p:ph type="ctrTitle"/>
          </p:nvPr>
        </p:nvSpPr>
        <p:spPr>
          <a:xfrm>
            <a:off x="212035" y="556591"/>
            <a:ext cx="11873948" cy="4823792"/>
          </a:xfrm>
        </p:spPr>
        <p:txBody>
          <a:bodyPr>
            <a:noAutofit/>
          </a:bodyPr>
          <a:lstStyle/>
          <a:p>
            <a: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t>ENTREPRENEURSHIP IN HUMAN RESOURCE MANAGEMENT</a:t>
            </a:r>
            <a:b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t/>
            </a:r>
            <a:b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t>By</a:t>
            </a:r>
            <a:b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t/>
            </a:r>
            <a:b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t>OMOLUABI, E.T (Ph.D.)</a:t>
            </a:r>
            <a:b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t/>
            </a:r>
            <a:b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t>Department of Business Administration</a:t>
            </a:r>
            <a:b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t>Faculty of Arts, Management and Social Sciences</a:t>
            </a:r>
            <a:b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t>Edo State University</a:t>
            </a:r>
            <a:b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400" b="1" kern="100" dirty="0" err="1">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t>Uzairue</a:t>
            </a:r>
            <a:r>
              <a:rPr lang="en-US" sz="24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96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t/>
            </a:r>
            <a:br>
              <a:rPr lang="en-US" sz="9600" b="1"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br>
            <a:endParaRPr lang="x-none" sz="9600" dirty="0"/>
          </a:p>
        </p:txBody>
      </p:sp>
    </p:spTree>
    <p:extLst>
      <p:ext uri="{BB962C8B-B14F-4D97-AF65-F5344CB8AC3E}">
        <p14:creationId xmlns:p14="http://schemas.microsoft.com/office/powerpoint/2010/main" val="2375557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87BC2E7-87F2-597E-C886-0AB95B088D8C}"/>
              </a:ext>
            </a:extLst>
          </p:cNvPr>
          <p:cNvSpPr>
            <a:spLocks noGrp="1"/>
          </p:cNvSpPr>
          <p:nvPr>
            <p:ph idx="1"/>
          </p:nvPr>
        </p:nvSpPr>
        <p:spPr>
          <a:xfrm>
            <a:off x="715617" y="198783"/>
            <a:ext cx="11264348" cy="5181600"/>
          </a:xfrm>
        </p:spPr>
        <p:txBody>
          <a:bodyPr>
            <a:normAutofit/>
          </a:bodyPr>
          <a:lstStyle/>
          <a:p>
            <a:pPr algn="just">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Learning Objective:</a:t>
            </a:r>
            <a:endParaRPr lang="x-none"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3200" kern="100" dirty="0">
                <a:solidFill>
                  <a:srgbClr val="111111"/>
                </a:solidFill>
                <a:effectLst/>
                <a:latin typeface="Times New Roman" panose="02020603050405020304" pitchFamily="18" charset="0"/>
                <a:ea typeface="Calibri" panose="020F0502020204030204" pitchFamily="34" charset="0"/>
                <a:cs typeface="Times New Roman" panose="02020603050405020304" pitchFamily="18" charset="0"/>
              </a:rPr>
              <a:t>At the end of this course, learners are expected to have gained the following knowledge on the subject of Human Resource Management in Entrepreneurship introduction, definition of entrepreneurship, Human resource management, function of human resource management to an entrepreneur, Entrepreneur the owner of business who need human resource management knowledge to achieve its goals and objectives  of setting up the enterprise.</a:t>
            </a:r>
            <a:endParaRPr lang="x-none" sz="3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x-none" dirty="0"/>
          </a:p>
        </p:txBody>
      </p:sp>
    </p:spTree>
    <p:extLst>
      <p:ext uri="{BB962C8B-B14F-4D97-AF65-F5344CB8AC3E}">
        <p14:creationId xmlns:p14="http://schemas.microsoft.com/office/powerpoint/2010/main" val="2505411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DD52462-D7B0-7599-7951-E067D9DF12F7}"/>
              </a:ext>
            </a:extLst>
          </p:cNvPr>
          <p:cNvSpPr>
            <a:spLocks noGrp="1"/>
          </p:cNvSpPr>
          <p:nvPr>
            <p:ph idx="1"/>
          </p:nvPr>
        </p:nvSpPr>
        <p:spPr>
          <a:xfrm>
            <a:off x="172279" y="1086678"/>
            <a:ext cx="11887200" cy="5090285"/>
          </a:xfrm>
        </p:spPr>
        <p:txBody>
          <a:bodyPr/>
          <a:lstStyle/>
          <a:p>
            <a:pPr marL="742950" lvl="1" indent="-285750" algn="just">
              <a:lnSpc>
                <a:spcPct val="107000"/>
              </a:lnSpc>
              <a:spcAft>
                <a:spcPts val="800"/>
              </a:spcAft>
              <a:buFont typeface="+mj-lt"/>
              <a:buAutoNum type="arabicPeriod"/>
            </a:pP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Introduction</a:t>
            </a:r>
            <a:endParaRPr lang="x-non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kern="0" dirty="0">
                <a:effectLst/>
                <a:latin typeface="Times New Roman" panose="02020603050405020304" pitchFamily="18" charset="0"/>
                <a:ea typeface="Times New Roman" panose="02020603050405020304" pitchFamily="18" charset="0"/>
              </a:rPr>
              <a:t>The study of Entrepreneurship development in Human Resources Management is a course or subject that will enable learners to have a deep knowledge of what it takes to operates as an entrepreneur who also function as a human resource manager across various organization in Nigeria. We will try to see that we differentiate between entrepreneurship and human resource management by definition. What is entrepreneurship? According to (Omoluabi,2020) in his book tilted: “Rudiments of business administration and entrepreneurship studies defined “Entrepreneurship as the process that involves the identification of unidentified opportunities gathering resources to building a business”. </a:t>
            </a:r>
            <a:endParaRPr lang="x-none" sz="4800" dirty="0"/>
          </a:p>
        </p:txBody>
      </p:sp>
    </p:spTree>
    <p:extLst>
      <p:ext uri="{BB962C8B-B14F-4D97-AF65-F5344CB8AC3E}">
        <p14:creationId xmlns:p14="http://schemas.microsoft.com/office/powerpoint/2010/main" val="4293516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D010E7A-3E6A-1B8E-8D16-423F0C8E4632}"/>
              </a:ext>
            </a:extLst>
          </p:cNvPr>
          <p:cNvSpPr>
            <a:spLocks noGrp="1"/>
          </p:cNvSpPr>
          <p:nvPr>
            <p:ph idx="1"/>
          </p:nvPr>
        </p:nvSpPr>
        <p:spPr>
          <a:xfrm>
            <a:off x="13252" y="477078"/>
            <a:ext cx="12059478" cy="4732477"/>
          </a:xfrm>
        </p:spPr>
        <p:txBody>
          <a:bodyPr/>
          <a:lstStyle/>
          <a:p>
            <a:pPr algn="just"/>
            <a:r>
              <a:rPr lang="en-US" kern="0" dirty="0">
                <a:effectLst/>
                <a:latin typeface="Times New Roman" panose="02020603050405020304" pitchFamily="18" charset="0"/>
                <a:ea typeface="Times New Roman" panose="02020603050405020304" pitchFamily="18" charset="0"/>
              </a:rPr>
              <a:t>We can also understand the definition of entrepreneurship through its characteristics that entrepreneurs are futuristic in nature, they are risk takers, innovators, creative individuals, they also possess decision making ability etc. if this understood, what then is human resource management? It is the strategic coherent approach to the effective and efficient management of people and resources in an organization or in an industry. Such that they engage in the management of employees’ recruitment and training, performance appraisal or evaluation, promoting as well as discipline. Where the combination come from in e</a:t>
            </a:r>
            <a:r>
              <a:rPr lang="x-none" kern="0" dirty="0">
                <a:effectLst/>
                <a:latin typeface="Times New Roman" panose="02020603050405020304" pitchFamily="18" charset="0"/>
                <a:ea typeface="Times New Roman" panose="02020603050405020304" pitchFamily="18" charset="0"/>
              </a:rPr>
              <a:t>entrepreneur</a:t>
            </a:r>
            <a:r>
              <a:rPr lang="en-US" kern="0" dirty="0">
                <a:effectLst/>
                <a:latin typeface="Times New Roman" panose="02020603050405020304" pitchFamily="18" charset="0"/>
                <a:ea typeface="Times New Roman" panose="02020603050405020304" pitchFamily="18" charset="0"/>
              </a:rPr>
              <a:t>ship</a:t>
            </a:r>
            <a:r>
              <a:rPr lang="x-none" kern="0" dirty="0">
                <a:effectLst/>
                <a:latin typeface="Times New Roman" panose="02020603050405020304" pitchFamily="18" charset="0"/>
                <a:ea typeface="Times New Roman" panose="02020603050405020304" pitchFamily="18" charset="0"/>
              </a:rPr>
              <a:t> is </a:t>
            </a:r>
            <a:r>
              <a:rPr lang="en-US" kern="0" dirty="0">
                <a:effectLst/>
                <a:latin typeface="Times New Roman" panose="02020603050405020304" pitchFamily="18" charset="0"/>
                <a:ea typeface="Times New Roman" panose="02020603050405020304" pitchFamily="18" charset="0"/>
              </a:rPr>
              <a:t>the</a:t>
            </a:r>
            <a:r>
              <a:rPr lang="x-none" kern="0" dirty="0">
                <a:effectLst/>
                <a:latin typeface="Times New Roman" panose="02020603050405020304" pitchFamily="18" charset="0"/>
                <a:ea typeface="Times New Roman" panose="02020603050405020304" pitchFamily="18" charset="0"/>
              </a:rPr>
              <a:t> undertaking in which a particular human being </a:t>
            </a:r>
            <a:r>
              <a:rPr lang="en-US" kern="0" dirty="0">
                <a:effectLst/>
                <a:latin typeface="Times New Roman" panose="02020603050405020304" pitchFamily="18" charset="0"/>
                <a:ea typeface="Times New Roman" panose="02020603050405020304" pitchFamily="18" charset="0"/>
              </a:rPr>
              <a:t>moves</a:t>
            </a:r>
            <a:r>
              <a:rPr lang="x-none" kern="0" dirty="0">
                <a:effectLst/>
                <a:latin typeface="Times New Roman" panose="02020603050405020304" pitchFamily="18" charset="0"/>
                <a:ea typeface="Times New Roman" panose="02020603050405020304" pitchFamily="18" charset="0"/>
              </a:rPr>
              <a:t> along with opportunities by exploring the benefit of human resource management</a:t>
            </a:r>
            <a:r>
              <a:rPr lang="x-none" sz="1800" kern="0" dirty="0">
                <a:effectLst/>
                <a:latin typeface="Times New Roman" panose="02020603050405020304" pitchFamily="18" charset="0"/>
                <a:ea typeface="Times New Roman" panose="02020603050405020304" pitchFamily="18" charset="0"/>
              </a:rPr>
              <a:t>.</a:t>
            </a:r>
            <a:endParaRPr lang="x-none" dirty="0"/>
          </a:p>
        </p:txBody>
      </p:sp>
    </p:spTree>
    <p:extLst>
      <p:ext uri="{BB962C8B-B14F-4D97-AF65-F5344CB8AC3E}">
        <p14:creationId xmlns:p14="http://schemas.microsoft.com/office/powerpoint/2010/main" val="2803170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4C669CB-9DAF-35A6-1FD2-F5E25B3821D2}"/>
              </a:ext>
            </a:extLst>
          </p:cNvPr>
          <p:cNvSpPr>
            <a:spLocks noGrp="1"/>
          </p:cNvSpPr>
          <p:nvPr>
            <p:ph idx="1"/>
          </p:nvPr>
        </p:nvSpPr>
        <p:spPr>
          <a:xfrm>
            <a:off x="198783" y="927652"/>
            <a:ext cx="11807687" cy="4757531"/>
          </a:xfrm>
        </p:spPr>
        <p:txBody>
          <a:bodyPr/>
          <a:lstStyle/>
          <a:p>
            <a:pPr algn="just"/>
            <a:r>
              <a:rPr lang="x-none"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a:t>
            </a:r>
            <a:r>
              <a:rPr lang="en-US"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is </a:t>
            </a:r>
            <a:r>
              <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slide</a:t>
            </a:r>
            <a:r>
              <a:rPr lang="en-US"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explain</a:t>
            </a:r>
            <a:r>
              <a:rPr lang="x-none"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that the role of managing human resources effectively and efficiently</a:t>
            </a:r>
            <a:r>
              <a:rPr lang="en-US"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which </a:t>
            </a:r>
            <a:r>
              <a:rPr lang="x-none"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is significant in fostering and maintaining high levels of productivity in entrepreneurial businesses.</a:t>
            </a:r>
            <a:r>
              <a:rPr lang="en-US"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 This is because </a:t>
            </a:r>
            <a:r>
              <a:rPr lang="x-none"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Employees</a:t>
            </a:r>
            <a:r>
              <a:rPr lang="en-US"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 of any given organization</a:t>
            </a:r>
            <a:r>
              <a:rPr lang="x-none"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 are said to be the most important resources available to an entrepreneur in the creation </a:t>
            </a:r>
            <a:r>
              <a:rPr lang="en-US"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of wealth, business</a:t>
            </a:r>
            <a:r>
              <a:rPr lang="x-none"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 development, and fuel of a thriving entrepreneurial business</a:t>
            </a:r>
            <a:r>
              <a:rPr lang="en-US"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 operations.</a:t>
            </a:r>
            <a:r>
              <a:rPr lang="en-US"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The only way to achieve success is to ensure that during recruitment process only qualify and competent employees</a:t>
            </a:r>
            <a:r>
              <a:rPr lang="x-none"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 are </a:t>
            </a:r>
            <a:r>
              <a:rPr lang="en-US"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to be </a:t>
            </a:r>
            <a:r>
              <a:rPr lang="x-none"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selected and placed </a:t>
            </a:r>
            <a:r>
              <a:rPr lang="en-US"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So that the management can have </a:t>
            </a:r>
            <a:r>
              <a:rPr lang="x-none"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the right people doing the right job which would enhance future performances of entrepreneurial businesses.</a:t>
            </a:r>
            <a:r>
              <a:rPr lang="x-none" kern="100" spc="-5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x-none"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x-none" dirty="0"/>
          </a:p>
        </p:txBody>
      </p:sp>
    </p:spTree>
    <p:extLst>
      <p:ext uri="{BB962C8B-B14F-4D97-AF65-F5344CB8AC3E}">
        <p14:creationId xmlns:p14="http://schemas.microsoft.com/office/powerpoint/2010/main" val="311387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29C2253-1964-D3D8-3E3A-DAC6A5EDA70B}"/>
              </a:ext>
            </a:extLst>
          </p:cNvPr>
          <p:cNvSpPr>
            <a:spLocks noGrp="1"/>
          </p:cNvSpPr>
          <p:nvPr>
            <p:ph idx="1"/>
          </p:nvPr>
        </p:nvSpPr>
        <p:spPr>
          <a:xfrm>
            <a:off x="185530" y="649357"/>
            <a:ext cx="11751366" cy="5501102"/>
          </a:xfrm>
        </p:spPr>
        <p:txBody>
          <a:bodyPr/>
          <a:lstStyle/>
          <a:p>
            <a:pPr algn="just"/>
            <a:r>
              <a:rPr lang="x-none" sz="2400" kern="100" spc="-5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 today</a:t>
            </a:r>
            <a:r>
              <a:rPr lang="en-US" sz="2400" kern="100" spc="-5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business world,</a:t>
            </a:r>
            <a:r>
              <a:rPr lang="x-none" sz="2400" kern="100" spc="-5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small and medium </a:t>
            </a:r>
            <a:r>
              <a:rPr lang="en-US" sz="2400" kern="100" spc="-5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scale </a:t>
            </a:r>
            <a:r>
              <a:rPr lang="x-none" sz="2400" kern="100" spc="-5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a:t>
            </a:r>
            <a:r>
              <a:rPr lang="x-none" sz="2400" kern="100" spc="-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terprises are seen as the major</a:t>
            </a:r>
            <a:r>
              <a:rPr lang="en-US" sz="2400" kern="100" spc="-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engine that has the ability and capacity to </a:t>
            </a:r>
            <a:r>
              <a:rPr lang="x-none" sz="2400" kern="100" spc="-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drive   the economic growth and development by </a:t>
            </a:r>
            <a:r>
              <a:rPr lang="en-US" sz="2400" kern="100" spc="-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away of </a:t>
            </a:r>
            <a:r>
              <a:rPr lang="x-none" sz="2400" kern="100" spc="-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categorizing free-</a:t>
            </a:r>
            <a:r>
              <a:rPr lang="x-none" sz="2400" kern="100" spc="-6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market entry, sole</a:t>
            </a:r>
            <a:r>
              <a:rPr lang="x-none" sz="2400" kern="100" spc="-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ownership, </a:t>
            </a:r>
            <a:r>
              <a:rPr lang="en-US" sz="2400" kern="100" spc="-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partnership join venture, </a:t>
            </a:r>
            <a:r>
              <a:rPr lang="x-none" sz="2400" kern="100" spc="-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entrepreneurship orie</a:t>
            </a:r>
            <a:r>
              <a:rPr lang="x-none" sz="2400" kern="100" spc="-6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ntation, business</a:t>
            </a:r>
            <a:r>
              <a:rPr lang="en-US" sz="2400" kern="100" spc="-6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es,</a:t>
            </a:r>
            <a:r>
              <a:rPr lang="x-none" sz="2400" kern="100" spc="-6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and management</a:t>
            </a:r>
            <a:r>
              <a:rPr lang="en-US" sz="2400" kern="100" spc="-6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x-none"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a:t>
            </a:r>
            <a:r>
              <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a:t>
            </a:r>
            <a:r>
              <a:rPr lang="x-none"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approach </a:t>
            </a:r>
            <a:r>
              <a:rPr lang="en-US" sz="2400" kern="1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explain</a:t>
            </a:r>
            <a:r>
              <a:rPr lang="x-none" sz="2400" kern="1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es how to </a:t>
            </a:r>
            <a:r>
              <a:rPr lang="en-US" sz="2400" kern="1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select </a:t>
            </a:r>
            <a:r>
              <a:rPr lang="x-none" sz="2400" kern="1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suitable res</a:t>
            </a:r>
            <a:r>
              <a:rPr lang="x-none"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ource from the environment where </a:t>
            </a:r>
            <a:r>
              <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business   </a:t>
            </a:r>
            <a:r>
              <a:rPr lang="x-none"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operates which can </a:t>
            </a:r>
            <a:r>
              <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improve  </a:t>
            </a:r>
            <a:r>
              <a:rPr lang="x-none"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the value and brand image of the goods and services</a:t>
            </a:r>
            <a:r>
              <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that is produced by </a:t>
            </a:r>
            <a:r>
              <a:rPr lang="x-none"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firm. </a:t>
            </a:r>
            <a:r>
              <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Hence, this is why it is said that Human</a:t>
            </a:r>
            <a:r>
              <a:rPr lang="x-none"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resource is the most valuable asset </a:t>
            </a:r>
            <a:r>
              <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that must be cherished </a:t>
            </a:r>
            <a:r>
              <a:rPr lang="x-none"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 the organization</a:t>
            </a:r>
            <a:r>
              <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in order t</a:t>
            </a:r>
            <a:r>
              <a:rPr lang="x-none"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 sustain the competitive advantage of a growing </a:t>
            </a:r>
            <a:r>
              <a:rPr lang="x-none" sz="2400" kern="1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entrepreneurial venture </a:t>
            </a:r>
            <a:r>
              <a:rPr lang="en-US" sz="2400" kern="1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meaning</a:t>
            </a:r>
            <a:r>
              <a:rPr lang="x-none" sz="2400" kern="1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choosing a </a:t>
            </a:r>
            <a:r>
              <a:rPr lang="x-none"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specific HRM policy and procedure which is in</a:t>
            </a:r>
            <a:r>
              <a:rPr lang="x-none" sz="2400" kern="1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ternally reliable and stable with the </a:t>
            </a:r>
            <a:r>
              <a:rPr lang="x-none"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vision and mission</a:t>
            </a:r>
            <a:r>
              <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statement </a:t>
            </a:r>
            <a:r>
              <a:rPr lang="x-none"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of the organization</a:t>
            </a:r>
            <a:r>
              <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to achieve its goals and objective within a time frame</a:t>
            </a:r>
            <a:endParaRPr lang="x-none"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x-none" dirty="0"/>
          </a:p>
        </p:txBody>
      </p:sp>
    </p:spTree>
    <p:extLst>
      <p:ext uri="{BB962C8B-B14F-4D97-AF65-F5344CB8AC3E}">
        <p14:creationId xmlns:p14="http://schemas.microsoft.com/office/powerpoint/2010/main" val="1497531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54B5E03-421B-56BB-2A3D-1024E6E458FB}"/>
              </a:ext>
            </a:extLst>
          </p:cNvPr>
          <p:cNvSpPr>
            <a:spLocks noGrp="1"/>
          </p:cNvSpPr>
          <p:nvPr>
            <p:ph idx="1"/>
          </p:nvPr>
        </p:nvSpPr>
        <p:spPr>
          <a:xfrm>
            <a:off x="0" y="1253331"/>
            <a:ext cx="11900452" cy="4351338"/>
          </a:xfrm>
        </p:spPr>
        <p:txBody>
          <a:bodyPr>
            <a:normAutofit/>
          </a:bodyPr>
          <a:lstStyle/>
          <a:p>
            <a:pPr algn="just">
              <a:lnSpc>
                <a:spcPct val="107000"/>
              </a:lnSpc>
              <a:spcAft>
                <a:spcPts val="800"/>
              </a:spcAft>
            </a:pPr>
            <a:r>
              <a:rPr lang="en-US" b="1" kern="0" dirty="0">
                <a:effectLst/>
                <a:latin typeface="Times New Roman" panose="02020603050405020304" pitchFamily="18" charset="0"/>
                <a:ea typeface="Times New Roman" panose="02020603050405020304" pitchFamily="18" charset="0"/>
                <a:cs typeface="Times New Roman" panose="02020603050405020304" pitchFamily="18" charset="0"/>
              </a:rPr>
              <a:t>1.2 Functions of Human Resource Management to an Entrepreneur </a:t>
            </a:r>
            <a:endParaRPr lang="x-none"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500"/>
              </a:spcAft>
            </a:pPr>
            <a:r>
              <a:rPr lang="en-US" b="0" dirty="0">
                <a:solidFill>
                  <a:srgbClr val="3A3A3A"/>
                </a:solidFill>
                <a:effectLst/>
                <a:latin typeface="Times New Roman" panose="02020603050405020304" pitchFamily="18" charset="0"/>
                <a:ea typeface="Times New Roman" panose="02020603050405020304" pitchFamily="18" charset="0"/>
              </a:rPr>
              <a:t>Functionally, the human </a:t>
            </a:r>
            <a:r>
              <a:rPr lang="x-none" b="0" dirty="0">
                <a:solidFill>
                  <a:srgbClr val="3A3A3A"/>
                </a:solidFill>
                <a:effectLst/>
                <a:latin typeface="Times New Roman" panose="02020603050405020304" pitchFamily="18" charset="0"/>
                <a:ea typeface="Times New Roman" panose="02020603050405020304" pitchFamily="18" charset="0"/>
              </a:rPr>
              <a:t>resource manage</a:t>
            </a:r>
            <a:r>
              <a:rPr lang="en-US" b="0" dirty="0" err="1">
                <a:solidFill>
                  <a:srgbClr val="3A3A3A"/>
                </a:solidFill>
                <a:effectLst/>
                <a:latin typeface="Times New Roman" panose="02020603050405020304" pitchFamily="18" charset="0"/>
                <a:ea typeface="Times New Roman" panose="02020603050405020304" pitchFamily="18" charset="0"/>
              </a:rPr>
              <a:t>ment</a:t>
            </a:r>
            <a:r>
              <a:rPr lang="x-none" b="0" dirty="0">
                <a:solidFill>
                  <a:srgbClr val="3A3A3A"/>
                </a:solidFill>
                <a:effectLst/>
                <a:latin typeface="Times New Roman" panose="02020603050405020304" pitchFamily="18" charset="0"/>
                <a:ea typeface="Times New Roman" panose="02020603050405020304" pitchFamily="18" charset="0"/>
              </a:rPr>
              <a:t> is a leadership </a:t>
            </a:r>
            <a:r>
              <a:rPr lang="en-US" b="0" dirty="0">
                <a:solidFill>
                  <a:srgbClr val="3A3A3A"/>
                </a:solidFill>
                <a:effectLst/>
                <a:latin typeface="Times New Roman" panose="02020603050405020304" pitchFamily="18" charset="0"/>
                <a:ea typeface="Times New Roman" panose="02020603050405020304" pitchFamily="18" charset="0"/>
              </a:rPr>
              <a:t>responsibility that function </a:t>
            </a:r>
            <a:r>
              <a:rPr lang="x-none" b="0" dirty="0">
                <a:solidFill>
                  <a:srgbClr val="3A3A3A"/>
                </a:solidFill>
                <a:effectLst/>
                <a:latin typeface="Times New Roman" panose="02020603050405020304" pitchFamily="18" charset="0"/>
                <a:ea typeface="Times New Roman" panose="02020603050405020304" pitchFamily="18" charset="0"/>
              </a:rPr>
              <a:t>within an </a:t>
            </a:r>
            <a:r>
              <a:rPr lang="en-US" b="0" dirty="0">
                <a:solidFill>
                  <a:srgbClr val="3A3A3A"/>
                </a:solidFill>
                <a:effectLst/>
                <a:latin typeface="Times New Roman" panose="02020603050405020304" pitchFamily="18" charset="0"/>
                <a:ea typeface="Times New Roman" panose="02020603050405020304" pitchFamily="18" charset="0"/>
              </a:rPr>
              <a:t>enterprise which </a:t>
            </a:r>
            <a:r>
              <a:rPr lang="x-none" b="0" dirty="0">
                <a:solidFill>
                  <a:srgbClr val="3A3A3A"/>
                </a:solidFill>
                <a:effectLst/>
                <a:latin typeface="Times New Roman" panose="02020603050405020304" pitchFamily="18" charset="0"/>
                <a:ea typeface="Times New Roman" panose="02020603050405020304" pitchFamily="18" charset="0"/>
              </a:rPr>
              <a:t>helps to bring into line the </a:t>
            </a:r>
            <a:r>
              <a:rPr lang="en-US" b="0" dirty="0">
                <a:solidFill>
                  <a:srgbClr val="3A3A3A"/>
                </a:solidFill>
                <a:effectLst/>
                <a:latin typeface="Times New Roman" panose="02020603050405020304" pitchFamily="18" charset="0"/>
                <a:ea typeface="Times New Roman" panose="02020603050405020304" pitchFamily="18" charset="0"/>
              </a:rPr>
              <a:t>employees </a:t>
            </a:r>
            <a:r>
              <a:rPr lang="x-none" b="0" dirty="0">
                <a:solidFill>
                  <a:srgbClr val="3A3A3A"/>
                </a:solidFill>
                <a:effectLst/>
                <a:latin typeface="Times New Roman" panose="02020603050405020304" pitchFamily="18" charset="0"/>
                <a:ea typeface="Times New Roman" panose="02020603050405020304" pitchFamily="18" charset="0"/>
              </a:rPr>
              <a:t>with the </a:t>
            </a:r>
            <a:r>
              <a:rPr lang="en-US" b="0" dirty="0">
                <a:solidFill>
                  <a:srgbClr val="3A3A3A"/>
                </a:solidFill>
                <a:effectLst/>
                <a:latin typeface="Times New Roman" panose="02020603050405020304" pitchFamily="18" charset="0"/>
                <a:ea typeface="Times New Roman" panose="02020603050405020304" pitchFamily="18" charset="0"/>
              </a:rPr>
              <a:t>intentions of driving the organization goals </a:t>
            </a:r>
            <a:r>
              <a:rPr lang="x-none" b="0" dirty="0">
                <a:solidFill>
                  <a:srgbClr val="3A3A3A"/>
                </a:solidFill>
                <a:effectLst/>
                <a:latin typeface="Times New Roman" panose="02020603050405020304" pitchFamily="18" charset="0"/>
                <a:ea typeface="Times New Roman" panose="02020603050405020304" pitchFamily="18" charset="0"/>
              </a:rPr>
              <a:t>and </a:t>
            </a:r>
            <a:r>
              <a:rPr lang="en-US" b="0" dirty="0">
                <a:solidFill>
                  <a:srgbClr val="3A3A3A"/>
                </a:solidFill>
                <a:effectLst/>
                <a:latin typeface="Times New Roman" panose="02020603050405020304" pitchFamily="18" charset="0"/>
                <a:ea typeface="Times New Roman" panose="02020603050405020304" pitchFamily="18" charset="0"/>
              </a:rPr>
              <a:t>objective </a:t>
            </a:r>
            <a:r>
              <a:rPr lang="x-none" b="0" dirty="0">
                <a:solidFill>
                  <a:srgbClr val="3A3A3A"/>
                </a:solidFill>
                <a:effectLst/>
                <a:latin typeface="Times New Roman" panose="02020603050405020304" pitchFamily="18" charset="0"/>
                <a:ea typeface="Times New Roman" panose="02020603050405020304" pitchFamily="18" charset="0"/>
              </a:rPr>
              <a:t>of an </a:t>
            </a:r>
            <a:r>
              <a:rPr lang="en-US" b="0" dirty="0">
                <a:solidFill>
                  <a:srgbClr val="3A3A3A"/>
                </a:solidFill>
                <a:effectLst/>
                <a:latin typeface="Times New Roman" panose="02020603050405020304" pitchFamily="18" charset="0"/>
                <a:ea typeface="Times New Roman" panose="02020603050405020304" pitchFamily="18" charset="0"/>
              </a:rPr>
              <a:t>enterprise</a:t>
            </a:r>
            <a:r>
              <a:rPr lang="x-none" b="0" dirty="0">
                <a:solidFill>
                  <a:srgbClr val="3A3A3A"/>
                </a:solidFill>
                <a:effectLst/>
                <a:latin typeface="Times New Roman" panose="02020603050405020304" pitchFamily="18" charset="0"/>
                <a:ea typeface="Times New Roman" panose="02020603050405020304" pitchFamily="18" charset="0"/>
              </a:rPr>
              <a:t>. It includes </a:t>
            </a:r>
            <a:r>
              <a:rPr lang="en-US" b="0" dirty="0">
                <a:solidFill>
                  <a:srgbClr val="3A3A3A"/>
                </a:solidFill>
                <a:effectLst/>
                <a:latin typeface="Times New Roman" panose="02020603050405020304" pitchFamily="18" charset="0"/>
                <a:ea typeface="Times New Roman" panose="02020603050405020304" pitchFamily="18" charset="0"/>
              </a:rPr>
              <a:t>the activity of </a:t>
            </a:r>
            <a:r>
              <a:rPr lang="x-none" b="0" dirty="0">
                <a:solidFill>
                  <a:srgbClr val="3A3A3A"/>
                </a:solidFill>
                <a:effectLst/>
                <a:latin typeface="Times New Roman" panose="02020603050405020304" pitchFamily="18" charset="0"/>
                <a:ea typeface="Times New Roman" panose="02020603050405020304" pitchFamily="18" charset="0"/>
              </a:rPr>
              <a:t>attracting, developing, organising and retaining necessary skills to meet customer and shareholder prospects</a:t>
            </a:r>
            <a:r>
              <a:rPr lang="en-US" b="0" dirty="0">
                <a:solidFill>
                  <a:srgbClr val="3A3A3A"/>
                </a:solidFill>
                <a:effectLst/>
                <a:latin typeface="Times New Roman" panose="02020603050405020304" pitchFamily="18" charset="0"/>
                <a:ea typeface="Times New Roman" panose="02020603050405020304" pitchFamily="18" charset="0"/>
              </a:rPr>
              <a:t>, </a:t>
            </a:r>
            <a:r>
              <a:rPr lang="x-none" b="0" dirty="0">
                <a:solidFill>
                  <a:srgbClr val="3A3A3A"/>
                </a:solidFill>
                <a:effectLst/>
                <a:latin typeface="Times New Roman" panose="02020603050405020304" pitchFamily="18" charset="0"/>
                <a:ea typeface="Times New Roman" panose="02020603050405020304" pitchFamily="18" charset="0"/>
              </a:rPr>
              <a:t>genera</a:t>
            </a:r>
            <a:r>
              <a:rPr lang="en-US" b="0" dirty="0" err="1">
                <a:solidFill>
                  <a:srgbClr val="3A3A3A"/>
                </a:solidFill>
                <a:effectLst/>
                <a:latin typeface="Times New Roman" panose="02020603050405020304" pitchFamily="18" charset="0"/>
                <a:ea typeface="Times New Roman" panose="02020603050405020304" pitchFamily="18" charset="0"/>
              </a:rPr>
              <a:t>te</a:t>
            </a:r>
            <a:r>
              <a:rPr lang="x-none" b="0" dirty="0">
                <a:solidFill>
                  <a:srgbClr val="3A3A3A"/>
                </a:solidFill>
                <a:effectLst/>
                <a:latin typeface="Times New Roman" panose="02020603050405020304" pitchFamily="18" charset="0"/>
                <a:ea typeface="Times New Roman" panose="02020603050405020304" pitchFamily="18" charset="0"/>
              </a:rPr>
              <a:t> a company culture that can identify with </a:t>
            </a:r>
            <a:r>
              <a:rPr lang="en-US" b="0" dirty="0">
                <a:solidFill>
                  <a:srgbClr val="3A3A3A"/>
                </a:solidFill>
                <a:effectLst/>
                <a:latin typeface="Times New Roman" panose="02020603050405020304" pitchFamily="18" charset="0"/>
                <a:ea typeface="Times New Roman" panose="02020603050405020304" pitchFamily="18" charset="0"/>
              </a:rPr>
              <a:t>the </a:t>
            </a:r>
            <a:r>
              <a:rPr lang="en-US" b="0" dirty="0" err="1">
                <a:solidFill>
                  <a:srgbClr val="3A3A3A"/>
                </a:solidFill>
                <a:effectLst/>
                <a:latin typeface="Times New Roman" panose="02020603050405020304" pitchFamily="18" charset="0"/>
                <a:ea typeface="Times New Roman" panose="02020603050405020304" pitchFamily="18" charset="0"/>
              </a:rPr>
              <a:t>organisation</a:t>
            </a:r>
            <a:r>
              <a:rPr lang="en-US" b="0" dirty="0">
                <a:solidFill>
                  <a:srgbClr val="3A3A3A"/>
                </a:solidFill>
                <a:effectLst/>
                <a:latin typeface="Times New Roman" panose="02020603050405020304" pitchFamily="18" charset="0"/>
                <a:ea typeface="Times New Roman" panose="02020603050405020304" pitchFamily="18" charset="0"/>
              </a:rPr>
              <a:t> and feel that they</a:t>
            </a:r>
            <a:r>
              <a:rPr lang="x-none" b="0" dirty="0">
                <a:solidFill>
                  <a:srgbClr val="3A3A3A"/>
                </a:solidFill>
                <a:effectLst/>
                <a:latin typeface="Times New Roman" panose="02020603050405020304" pitchFamily="18" charset="0"/>
                <a:ea typeface="Times New Roman" panose="02020603050405020304" pitchFamily="18" charset="0"/>
              </a:rPr>
              <a:t> belon</a:t>
            </a:r>
            <a:r>
              <a:rPr lang="en-US" b="0" dirty="0">
                <a:solidFill>
                  <a:srgbClr val="3A3A3A"/>
                </a:solidFill>
                <a:effectLst/>
                <a:latin typeface="Times New Roman" panose="02020603050405020304" pitchFamily="18" charset="0"/>
                <a:ea typeface="Times New Roman" panose="02020603050405020304" pitchFamily="18" charset="0"/>
              </a:rPr>
              <a:t>g to the system.</a:t>
            </a:r>
            <a:endParaRPr lang="x-none" b="1" dirty="0">
              <a:effectLst/>
              <a:latin typeface="Times New Roman" panose="02020603050405020304" pitchFamily="18" charset="0"/>
              <a:ea typeface="Times New Roman" panose="02020603050405020304" pitchFamily="18" charset="0"/>
            </a:endParaRPr>
          </a:p>
          <a:p>
            <a:endParaRPr lang="x-none" dirty="0"/>
          </a:p>
        </p:txBody>
      </p:sp>
    </p:spTree>
    <p:extLst>
      <p:ext uri="{BB962C8B-B14F-4D97-AF65-F5344CB8AC3E}">
        <p14:creationId xmlns:p14="http://schemas.microsoft.com/office/powerpoint/2010/main" val="2377566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6DB9CAD-C0ED-8B08-07BF-BAEA00EF04FC}"/>
              </a:ext>
            </a:extLst>
          </p:cNvPr>
          <p:cNvSpPr>
            <a:spLocks noGrp="1"/>
          </p:cNvSpPr>
          <p:nvPr>
            <p:ph idx="1"/>
          </p:nvPr>
        </p:nvSpPr>
        <p:spPr>
          <a:xfrm>
            <a:off x="1" y="1825625"/>
            <a:ext cx="11966712" cy="4351338"/>
          </a:xfrm>
        </p:spPr>
        <p:txBody>
          <a:bodyPr>
            <a:normAutofit/>
          </a:bodyPr>
          <a:lstStyle/>
          <a:p>
            <a:pPr algn="just"/>
            <a:r>
              <a:rPr lang="en-US" sz="2400" b="0" dirty="0">
                <a:solidFill>
                  <a:srgbClr val="3A3A3A"/>
                </a:solidFill>
                <a:effectLst/>
                <a:latin typeface="Times New Roman" panose="02020603050405020304" pitchFamily="18" charset="0"/>
                <a:ea typeface="Times New Roman" panose="02020603050405020304" pitchFamily="18" charset="0"/>
              </a:rPr>
              <a:t>So, it has to pursue the </a:t>
            </a:r>
            <a:r>
              <a:rPr lang="x-none" sz="2400" b="0" dirty="0">
                <a:solidFill>
                  <a:srgbClr val="3A3A3A"/>
                </a:solidFill>
                <a:effectLst/>
                <a:latin typeface="Times New Roman" panose="02020603050405020304" pitchFamily="18" charset="0"/>
                <a:ea typeface="Times New Roman" panose="02020603050405020304" pitchFamily="18" charset="0"/>
              </a:rPr>
              <a:t>purpose </a:t>
            </a:r>
            <a:r>
              <a:rPr lang="en-US" sz="2400" b="0" dirty="0">
                <a:solidFill>
                  <a:srgbClr val="3A3A3A"/>
                </a:solidFill>
                <a:effectLst/>
                <a:latin typeface="Times New Roman" panose="02020603050405020304" pitchFamily="18" charset="0"/>
                <a:ea typeface="Times New Roman" panose="02020603050405020304" pitchFamily="18" charset="0"/>
              </a:rPr>
              <a:t>and</a:t>
            </a:r>
            <a:r>
              <a:rPr lang="x-none" sz="2400" b="0" dirty="0">
                <a:solidFill>
                  <a:srgbClr val="3A3A3A"/>
                </a:solidFill>
                <a:effectLst/>
                <a:latin typeface="Times New Roman" panose="02020603050405020304" pitchFamily="18" charset="0"/>
                <a:ea typeface="Times New Roman" panose="02020603050405020304" pitchFamily="18" charset="0"/>
              </a:rPr>
              <a:t> channel behaviour </a:t>
            </a:r>
            <a:r>
              <a:rPr lang="en-US" sz="2400" b="0" dirty="0">
                <a:solidFill>
                  <a:srgbClr val="3A3A3A"/>
                </a:solidFill>
                <a:effectLst/>
                <a:latin typeface="Times New Roman" panose="02020603050405020304" pitchFamily="18" charset="0"/>
                <a:ea typeface="Times New Roman" panose="02020603050405020304" pitchFamily="18" charset="0"/>
              </a:rPr>
              <a:t>that can</a:t>
            </a:r>
            <a:r>
              <a:rPr lang="x-none" sz="2400" b="0" dirty="0">
                <a:solidFill>
                  <a:srgbClr val="3A3A3A"/>
                </a:solidFill>
                <a:effectLst/>
                <a:latin typeface="Times New Roman" panose="02020603050405020304" pitchFamily="18" charset="0"/>
                <a:ea typeface="Times New Roman" panose="02020603050405020304" pitchFamily="18" charset="0"/>
              </a:rPr>
              <a:t> drive the </a:t>
            </a:r>
            <a:r>
              <a:rPr lang="en-US" sz="2400" b="0" dirty="0">
                <a:solidFill>
                  <a:srgbClr val="3A3A3A"/>
                </a:solidFill>
                <a:effectLst/>
                <a:latin typeface="Times New Roman" panose="02020603050405020304" pitchFamily="18" charset="0"/>
                <a:ea typeface="Times New Roman" panose="02020603050405020304" pitchFamily="18" charset="0"/>
              </a:rPr>
              <a:t>enterprise </a:t>
            </a:r>
            <a:r>
              <a:rPr lang="x-none" sz="2400" b="0" dirty="0">
                <a:solidFill>
                  <a:srgbClr val="3A3A3A"/>
                </a:solidFill>
                <a:effectLst/>
                <a:latin typeface="Times New Roman" panose="02020603050405020304" pitchFamily="18" charset="0"/>
                <a:ea typeface="Times New Roman" panose="02020603050405020304" pitchFamily="18" charset="0"/>
              </a:rPr>
              <a:t>towards </a:t>
            </a:r>
            <a:r>
              <a:rPr lang="en-US" sz="2400" b="0" dirty="0">
                <a:solidFill>
                  <a:srgbClr val="3A3A3A"/>
                </a:solidFill>
                <a:effectLst/>
                <a:latin typeface="Times New Roman" panose="02020603050405020304" pitchFamily="18" charset="0"/>
                <a:ea typeface="Times New Roman" panose="02020603050405020304" pitchFamily="18" charset="0"/>
              </a:rPr>
              <a:t>achieving </a:t>
            </a:r>
            <a:r>
              <a:rPr lang="x-none" sz="2400" b="0" dirty="0">
                <a:solidFill>
                  <a:srgbClr val="3A3A3A"/>
                </a:solidFill>
                <a:effectLst/>
                <a:latin typeface="Times New Roman" panose="02020603050405020304" pitchFamily="18" charset="0"/>
                <a:ea typeface="Times New Roman" panose="02020603050405020304" pitchFamily="18" charset="0"/>
              </a:rPr>
              <a:t>its desired </a:t>
            </a:r>
            <a:r>
              <a:rPr lang="en-US" sz="2400" b="0" dirty="0">
                <a:solidFill>
                  <a:srgbClr val="3A3A3A"/>
                </a:solidFill>
                <a:effectLst/>
                <a:latin typeface="Times New Roman" panose="02020603050405020304" pitchFamily="18" charset="0"/>
                <a:ea typeface="Times New Roman" panose="02020603050405020304" pitchFamily="18" charset="0"/>
              </a:rPr>
              <a:t>goals and objective.  </a:t>
            </a:r>
            <a:r>
              <a:rPr lang="x-none" sz="2400" b="0" dirty="0">
                <a:solidFill>
                  <a:srgbClr val="3A3A3A"/>
                </a:solidFill>
                <a:effectLst/>
                <a:latin typeface="Times New Roman" panose="02020603050405020304" pitchFamily="18" charset="0"/>
                <a:ea typeface="Times New Roman" panose="02020603050405020304" pitchFamily="18" charset="0"/>
              </a:rPr>
              <a:t>Entrepreneurs are </a:t>
            </a:r>
            <a:r>
              <a:rPr lang="en-US" sz="2400" b="0" dirty="0">
                <a:solidFill>
                  <a:srgbClr val="3A3A3A"/>
                </a:solidFill>
                <a:effectLst/>
                <a:latin typeface="Times New Roman" panose="02020603050405020304" pitchFamily="18" charset="0"/>
                <a:ea typeface="Times New Roman" panose="02020603050405020304" pitchFamily="18" charset="0"/>
              </a:rPr>
              <a:t>mostly </a:t>
            </a:r>
            <a:r>
              <a:rPr lang="x-none" sz="2400" b="0" dirty="0">
                <a:solidFill>
                  <a:srgbClr val="3A3A3A"/>
                </a:solidFill>
                <a:effectLst/>
                <a:latin typeface="Times New Roman" panose="02020603050405020304" pitchFamily="18" charset="0"/>
                <a:ea typeface="Times New Roman" panose="02020603050405020304" pitchFamily="18" charset="0"/>
              </a:rPr>
              <a:t>the </a:t>
            </a:r>
            <a:r>
              <a:rPr lang="en-US" sz="2400" b="0" dirty="0">
                <a:solidFill>
                  <a:srgbClr val="3A3A3A"/>
                </a:solidFill>
                <a:effectLst/>
                <a:latin typeface="Times New Roman" panose="02020603050405020304" pitchFamily="18" charset="0"/>
                <a:ea typeface="Times New Roman" panose="02020603050405020304" pitchFamily="18" charset="0"/>
              </a:rPr>
              <a:t>owners </a:t>
            </a:r>
            <a:r>
              <a:rPr lang="x-none" sz="2400" b="0" dirty="0">
                <a:solidFill>
                  <a:srgbClr val="3A3A3A"/>
                </a:solidFill>
                <a:effectLst/>
                <a:latin typeface="Times New Roman" panose="02020603050405020304" pitchFamily="18" charset="0"/>
                <a:ea typeface="Times New Roman" panose="02020603050405020304" pitchFamily="18" charset="0"/>
              </a:rPr>
              <a:t>of the </a:t>
            </a:r>
            <a:r>
              <a:rPr lang="en-US" sz="2400" b="0" dirty="0">
                <a:solidFill>
                  <a:srgbClr val="3A3A3A"/>
                </a:solidFill>
                <a:effectLst/>
                <a:latin typeface="Times New Roman" panose="02020603050405020304" pitchFamily="18" charset="0"/>
                <a:ea typeface="Times New Roman" panose="02020603050405020304" pitchFamily="18" charset="0"/>
              </a:rPr>
              <a:t>enterprise</a:t>
            </a:r>
            <a:r>
              <a:rPr lang="x-none" sz="2400" b="0" dirty="0">
                <a:solidFill>
                  <a:srgbClr val="3A3A3A"/>
                </a:solidFill>
                <a:effectLst/>
                <a:latin typeface="Times New Roman" panose="02020603050405020304" pitchFamily="18" charset="0"/>
                <a:ea typeface="Times New Roman" panose="02020603050405020304" pitchFamily="18" charset="0"/>
              </a:rPr>
              <a:t> where they </a:t>
            </a:r>
            <a:r>
              <a:rPr lang="en-US" sz="2400" b="0" dirty="0">
                <a:solidFill>
                  <a:srgbClr val="3A3A3A"/>
                </a:solidFill>
                <a:effectLst/>
                <a:latin typeface="Times New Roman" panose="02020603050405020304" pitchFamily="18" charset="0"/>
                <a:ea typeface="Times New Roman" panose="02020603050405020304" pitchFamily="18" charset="0"/>
              </a:rPr>
              <a:t>also work hence, they have </a:t>
            </a:r>
            <a:r>
              <a:rPr lang="x-none" sz="2400" b="0" dirty="0">
                <a:solidFill>
                  <a:srgbClr val="3A3A3A"/>
                </a:solidFill>
                <a:effectLst/>
                <a:latin typeface="Times New Roman" panose="02020603050405020304" pitchFamily="18" charset="0"/>
                <a:ea typeface="Times New Roman" panose="02020603050405020304" pitchFamily="18" charset="0"/>
              </a:rPr>
              <a:t>influence on the belief system and culture of the </a:t>
            </a:r>
            <a:r>
              <a:rPr lang="en-US" sz="2400" b="0" dirty="0">
                <a:solidFill>
                  <a:srgbClr val="3A3A3A"/>
                </a:solidFill>
                <a:effectLst/>
                <a:latin typeface="Times New Roman" panose="02020603050405020304" pitchFamily="18" charset="0"/>
                <a:ea typeface="Times New Roman" panose="02020603050405020304" pitchFamily="18" charset="0"/>
              </a:rPr>
              <a:t>business enterprise</a:t>
            </a:r>
            <a:r>
              <a:rPr lang="x-none" sz="2400" b="0" dirty="0">
                <a:solidFill>
                  <a:srgbClr val="3A3A3A"/>
                </a:solidFill>
                <a:effectLst/>
                <a:latin typeface="Times New Roman" panose="02020603050405020304" pitchFamily="18" charset="0"/>
                <a:ea typeface="Times New Roman" panose="02020603050405020304" pitchFamily="18" charset="0"/>
              </a:rPr>
              <a:t>.  Culture</a:t>
            </a:r>
            <a:r>
              <a:rPr lang="en-US" sz="2400" b="0" dirty="0">
                <a:solidFill>
                  <a:srgbClr val="3A3A3A"/>
                </a:solidFill>
                <a:effectLst/>
                <a:latin typeface="Times New Roman" panose="02020603050405020304" pitchFamily="18" charset="0"/>
                <a:ea typeface="Times New Roman" panose="02020603050405020304" pitchFamily="18" charset="0"/>
              </a:rPr>
              <a:t> on the other hand, </a:t>
            </a:r>
            <a:r>
              <a:rPr lang="x-none" sz="2400" b="0" dirty="0">
                <a:solidFill>
                  <a:srgbClr val="3A3A3A"/>
                </a:solidFill>
                <a:effectLst/>
                <a:latin typeface="Times New Roman" panose="02020603050405020304" pitchFamily="18" charset="0"/>
                <a:ea typeface="Times New Roman" panose="02020603050405020304" pitchFamily="18" charset="0"/>
              </a:rPr>
              <a:t>is about shared values, it defines who </a:t>
            </a:r>
            <a:r>
              <a:rPr lang="en-US" sz="2400" b="0" dirty="0">
                <a:solidFill>
                  <a:srgbClr val="3A3A3A"/>
                </a:solidFill>
                <a:effectLst/>
                <a:latin typeface="Times New Roman" panose="02020603050405020304" pitchFamily="18" charset="0"/>
                <a:ea typeface="Times New Roman" panose="02020603050405020304" pitchFamily="18" charset="0"/>
              </a:rPr>
              <a:t>we are </a:t>
            </a:r>
            <a:r>
              <a:rPr lang="x-none" sz="2400" b="0" dirty="0">
                <a:solidFill>
                  <a:srgbClr val="3A3A3A"/>
                </a:solidFill>
                <a:effectLst/>
                <a:latin typeface="Times New Roman" panose="02020603050405020304" pitchFamily="18" charset="0"/>
                <a:ea typeface="Times New Roman" panose="02020603050405020304" pitchFamily="18" charset="0"/>
              </a:rPr>
              <a:t>and what we believe. </a:t>
            </a:r>
            <a:r>
              <a:rPr lang="en-US" sz="2400" b="0" dirty="0">
                <a:solidFill>
                  <a:srgbClr val="3A3A3A"/>
                </a:solidFill>
                <a:effectLst/>
                <a:latin typeface="Times New Roman" panose="02020603050405020304" pitchFamily="18" charset="0"/>
                <a:ea typeface="Times New Roman" panose="02020603050405020304" pitchFamily="18" charset="0"/>
              </a:rPr>
              <a:t> And it is what will help to</a:t>
            </a:r>
            <a:r>
              <a:rPr lang="x-none" sz="2400" b="0" dirty="0">
                <a:solidFill>
                  <a:srgbClr val="3A3A3A"/>
                </a:solidFill>
                <a:effectLst/>
                <a:latin typeface="Times New Roman" panose="02020603050405020304" pitchFamily="18" charset="0"/>
                <a:ea typeface="Times New Roman" panose="02020603050405020304" pitchFamily="18" charset="0"/>
              </a:rPr>
              <a:t> drives</a:t>
            </a:r>
            <a:r>
              <a:rPr lang="en-US" sz="2400" b="0" dirty="0">
                <a:solidFill>
                  <a:srgbClr val="3A3A3A"/>
                </a:solidFill>
                <a:effectLst/>
                <a:latin typeface="Times New Roman" panose="02020603050405020304" pitchFamily="18" charset="0"/>
                <a:ea typeface="Times New Roman" panose="02020603050405020304" pitchFamily="18" charset="0"/>
              </a:rPr>
              <a:t> or motivate our </a:t>
            </a:r>
            <a:r>
              <a:rPr lang="x-none" sz="2400" b="0" dirty="0">
                <a:solidFill>
                  <a:srgbClr val="3A3A3A"/>
                </a:solidFill>
                <a:effectLst/>
                <a:latin typeface="Times New Roman" panose="02020603050405020304" pitchFamily="18" charset="0"/>
                <a:ea typeface="Times New Roman" panose="02020603050405020304" pitchFamily="18" charset="0"/>
              </a:rPr>
              <a:t>behaviour, and </a:t>
            </a:r>
            <a:r>
              <a:rPr lang="en-US" sz="2400" b="0" dirty="0">
                <a:solidFill>
                  <a:srgbClr val="3A3A3A"/>
                </a:solidFill>
                <a:effectLst/>
                <a:latin typeface="Times New Roman" panose="02020603050405020304" pitchFamily="18" charset="0"/>
                <a:ea typeface="Times New Roman" panose="02020603050405020304" pitchFamily="18" charset="0"/>
              </a:rPr>
              <a:t>this </a:t>
            </a:r>
            <a:r>
              <a:rPr lang="x-none" sz="2400" b="0" dirty="0">
                <a:solidFill>
                  <a:srgbClr val="3A3A3A"/>
                </a:solidFill>
                <a:effectLst/>
                <a:latin typeface="Times New Roman" panose="02020603050405020304" pitchFamily="18" charset="0"/>
                <a:ea typeface="Times New Roman" panose="02020603050405020304" pitchFamily="18" charset="0"/>
              </a:rPr>
              <a:t>behaviour drives</a:t>
            </a:r>
            <a:r>
              <a:rPr lang="en-US" sz="2400" b="0" dirty="0">
                <a:solidFill>
                  <a:srgbClr val="3A3A3A"/>
                </a:solidFill>
                <a:effectLst/>
                <a:latin typeface="Times New Roman" panose="02020603050405020304" pitchFamily="18" charset="0"/>
                <a:ea typeface="Times New Roman" panose="02020603050405020304" pitchFamily="18" charset="0"/>
              </a:rPr>
              <a:t> the organizational </a:t>
            </a:r>
            <a:r>
              <a:rPr lang="x-none" sz="2400" b="0" dirty="0">
                <a:solidFill>
                  <a:srgbClr val="3A3A3A"/>
                </a:solidFill>
                <a:effectLst/>
                <a:latin typeface="Times New Roman" panose="02020603050405020304" pitchFamily="18" charset="0"/>
                <a:ea typeface="Times New Roman" panose="02020603050405020304" pitchFamily="18" charset="0"/>
              </a:rPr>
              <a:t> results.  </a:t>
            </a:r>
            <a:r>
              <a:rPr lang="en-US" sz="2400" b="0" dirty="0">
                <a:solidFill>
                  <a:srgbClr val="3A3A3A"/>
                </a:solidFill>
                <a:effectLst/>
                <a:latin typeface="Times New Roman" panose="02020603050405020304" pitchFamily="18" charset="0"/>
                <a:ea typeface="Times New Roman" panose="02020603050405020304" pitchFamily="18" charset="0"/>
              </a:rPr>
              <a:t>On this note, </a:t>
            </a:r>
            <a:r>
              <a:rPr lang="x-none" sz="2400" b="0" dirty="0">
                <a:solidFill>
                  <a:srgbClr val="3A3A3A"/>
                </a:solidFill>
                <a:effectLst/>
                <a:latin typeface="Times New Roman" panose="02020603050405020304" pitchFamily="18" charset="0"/>
                <a:ea typeface="Times New Roman" panose="02020603050405020304" pitchFamily="18" charset="0"/>
              </a:rPr>
              <a:t>Entrepreneurs </a:t>
            </a:r>
            <a:r>
              <a:rPr lang="en-US" sz="2400" b="0" dirty="0">
                <a:solidFill>
                  <a:srgbClr val="3A3A3A"/>
                </a:solidFill>
                <a:effectLst/>
                <a:latin typeface="Times New Roman" panose="02020603050405020304" pitchFamily="18" charset="0"/>
                <a:ea typeface="Times New Roman" panose="02020603050405020304" pitchFamily="18" charset="0"/>
              </a:rPr>
              <a:t>stands to shoulder the</a:t>
            </a:r>
            <a:r>
              <a:rPr lang="x-none" sz="2400" b="0" dirty="0">
                <a:solidFill>
                  <a:srgbClr val="3A3A3A"/>
                </a:solidFill>
                <a:effectLst/>
                <a:latin typeface="Times New Roman" panose="02020603050405020304" pitchFamily="18" charset="0"/>
                <a:ea typeface="Times New Roman" panose="02020603050405020304" pitchFamily="18" charset="0"/>
              </a:rPr>
              <a:t> responsibility </a:t>
            </a:r>
            <a:r>
              <a:rPr lang="en-US" sz="2400" b="0" dirty="0">
                <a:solidFill>
                  <a:srgbClr val="3A3A3A"/>
                </a:solidFill>
                <a:effectLst/>
                <a:latin typeface="Times New Roman" panose="02020603050405020304" pitchFamily="18" charset="0"/>
                <a:ea typeface="Times New Roman" panose="02020603050405020304" pitchFamily="18" charset="0"/>
              </a:rPr>
              <a:t>of creating </a:t>
            </a:r>
            <a:r>
              <a:rPr lang="x-none" sz="2400" b="0" dirty="0">
                <a:solidFill>
                  <a:srgbClr val="3A3A3A"/>
                </a:solidFill>
                <a:effectLst/>
                <a:latin typeface="Times New Roman" panose="02020603050405020304" pitchFamily="18" charset="0"/>
                <a:ea typeface="Times New Roman" panose="02020603050405020304" pitchFamily="18" charset="0"/>
              </a:rPr>
              <a:t>  customer</a:t>
            </a:r>
            <a:r>
              <a:rPr lang="en-US" sz="2400" b="0" dirty="0">
                <a:solidFill>
                  <a:srgbClr val="3A3A3A"/>
                </a:solidFill>
                <a:effectLst/>
                <a:latin typeface="Times New Roman" panose="02020603050405020304" pitchFamily="18" charset="0"/>
                <a:ea typeface="Times New Roman" panose="02020603050405020304" pitchFamily="18" charset="0"/>
              </a:rPr>
              <a:t>s focused</a:t>
            </a:r>
            <a:r>
              <a:rPr lang="x-none" sz="2400" b="0" dirty="0">
                <a:solidFill>
                  <a:srgbClr val="3A3A3A"/>
                </a:solidFill>
                <a:effectLst/>
                <a:latin typeface="Times New Roman" panose="02020603050405020304" pitchFamily="18" charset="0"/>
                <a:ea typeface="Times New Roman" panose="02020603050405020304" pitchFamily="18" charset="0"/>
              </a:rPr>
              <a:t> delivery culture within their </a:t>
            </a:r>
            <a:r>
              <a:rPr lang="en-US" sz="2400" b="0" dirty="0">
                <a:solidFill>
                  <a:srgbClr val="3A3A3A"/>
                </a:solidFill>
                <a:effectLst/>
                <a:latin typeface="Times New Roman" panose="02020603050405020304" pitchFamily="18" charset="0"/>
                <a:ea typeface="Times New Roman" panose="02020603050405020304" pitchFamily="18" charset="0"/>
              </a:rPr>
              <a:t>enterprise. </a:t>
            </a:r>
            <a:r>
              <a:rPr lang="x-none" sz="2400" b="0" dirty="0">
                <a:solidFill>
                  <a:srgbClr val="3A3A3A"/>
                </a:solidFill>
                <a:effectLst/>
                <a:latin typeface="Times New Roman" panose="02020603050405020304" pitchFamily="18" charset="0"/>
                <a:ea typeface="Times New Roman" panose="02020603050405020304" pitchFamily="18" charset="0"/>
              </a:rPr>
              <a:t>which will lead staff to achieve business and organisational goals. Human resource management is therefore a leadership function in an </a:t>
            </a:r>
            <a:r>
              <a:rPr lang="en-US" sz="2400" b="0" dirty="0">
                <a:solidFill>
                  <a:srgbClr val="3A3A3A"/>
                </a:solidFill>
                <a:effectLst/>
                <a:latin typeface="Times New Roman" panose="02020603050405020304" pitchFamily="18" charset="0"/>
                <a:ea typeface="Times New Roman" panose="02020603050405020304" pitchFamily="18" charset="0"/>
              </a:rPr>
              <a:t>enterprise</a:t>
            </a:r>
            <a:r>
              <a:rPr lang="x-none" sz="2400" b="0" dirty="0">
                <a:solidFill>
                  <a:srgbClr val="3A3A3A"/>
                </a:solidFill>
                <a:effectLst/>
                <a:latin typeface="Times New Roman" panose="02020603050405020304" pitchFamily="18" charset="0"/>
                <a:ea typeface="Times New Roman" panose="02020603050405020304" pitchFamily="18" charset="0"/>
              </a:rPr>
              <a:t>. A function that wires and develops the </a:t>
            </a:r>
            <a:r>
              <a:rPr lang="en-US" sz="2400" b="0" dirty="0">
                <a:solidFill>
                  <a:srgbClr val="3A3A3A"/>
                </a:solidFill>
                <a:effectLst/>
                <a:latin typeface="Times New Roman" panose="02020603050405020304" pitchFamily="18" charset="0"/>
                <a:ea typeface="Times New Roman" panose="02020603050405020304" pitchFamily="18" charset="0"/>
              </a:rPr>
              <a:t>own</a:t>
            </a:r>
            <a:r>
              <a:rPr lang="x-none" sz="2400" b="0" dirty="0">
                <a:solidFill>
                  <a:srgbClr val="3A3A3A"/>
                </a:solidFill>
                <a:effectLst/>
                <a:latin typeface="Times New Roman" panose="02020603050405020304" pitchFamily="18" charset="0"/>
                <a:ea typeface="Times New Roman" panose="02020603050405020304" pitchFamily="18" charset="0"/>
              </a:rPr>
              <a:t>er’s ideas and prospects for the business</a:t>
            </a:r>
            <a:r>
              <a:rPr lang="en-US" sz="2400" b="0" dirty="0">
                <a:solidFill>
                  <a:srgbClr val="3A3A3A"/>
                </a:solidFill>
                <a:effectLst/>
                <a:latin typeface="Times New Roman" panose="02020603050405020304" pitchFamily="18" charset="0"/>
                <a:ea typeface="Times New Roman" panose="02020603050405020304" pitchFamily="18" charset="0"/>
              </a:rPr>
              <a:t> enterprise </a:t>
            </a:r>
            <a:r>
              <a:rPr lang="x-none" sz="2400" b="0" dirty="0">
                <a:solidFill>
                  <a:srgbClr val="3A3A3A"/>
                </a:solidFill>
                <a:effectLst/>
                <a:latin typeface="Times New Roman" panose="02020603050405020304" pitchFamily="18" charset="0"/>
                <a:ea typeface="Times New Roman" panose="02020603050405020304" pitchFamily="18" charset="0"/>
              </a:rPr>
              <a:t>into manageable </a:t>
            </a:r>
            <a:r>
              <a:rPr lang="en-US" sz="2400" b="0" dirty="0">
                <a:solidFill>
                  <a:srgbClr val="3A3A3A"/>
                </a:solidFill>
                <a:effectLst/>
                <a:latin typeface="Times New Roman" panose="02020603050405020304" pitchFamily="18" charset="0"/>
                <a:ea typeface="Times New Roman" panose="02020603050405020304" pitchFamily="18" charset="0"/>
              </a:rPr>
              <a:t>scope so that</a:t>
            </a:r>
            <a:r>
              <a:rPr lang="x-none" sz="2400" b="0" dirty="0">
                <a:solidFill>
                  <a:srgbClr val="3A3A3A"/>
                </a:solidFill>
                <a:effectLst/>
                <a:latin typeface="Times New Roman" panose="02020603050405020304" pitchFamily="18" charset="0"/>
                <a:ea typeface="Times New Roman" panose="02020603050405020304" pitchFamily="18" charset="0"/>
              </a:rPr>
              <a:t> staff </a:t>
            </a:r>
            <a:r>
              <a:rPr lang="en-US" sz="2400" b="0" dirty="0">
                <a:solidFill>
                  <a:srgbClr val="3A3A3A"/>
                </a:solidFill>
                <a:effectLst/>
                <a:latin typeface="Times New Roman" panose="02020603050405020304" pitchFamily="18" charset="0"/>
                <a:ea typeface="Times New Roman" panose="02020603050405020304" pitchFamily="18" charset="0"/>
              </a:rPr>
              <a:t>can understand</a:t>
            </a:r>
            <a:r>
              <a:rPr lang="x-none" sz="2400" b="0" dirty="0">
                <a:solidFill>
                  <a:srgbClr val="3A3A3A"/>
                </a:solidFill>
                <a:effectLst/>
                <a:latin typeface="Times New Roman" panose="02020603050405020304" pitchFamily="18" charset="0"/>
                <a:ea typeface="Times New Roman" panose="02020603050405020304" pitchFamily="18" charset="0"/>
              </a:rPr>
              <a:t> and grow </a:t>
            </a:r>
            <a:r>
              <a:rPr lang="en-US" sz="2400" b="0" dirty="0">
                <a:solidFill>
                  <a:srgbClr val="3A3A3A"/>
                </a:solidFill>
                <a:effectLst/>
                <a:latin typeface="Times New Roman" panose="02020603050405020304" pitchFamily="18" charset="0"/>
                <a:ea typeface="Times New Roman" panose="02020603050405020304" pitchFamily="18" charset="0"/>
              </a:rPr>
              <a:t>along </a:t>
            </a:r>
            <a:r>
              <a:rPr lang="x-none" sz="2400" b="0" dirty="0">
                <a:solidFill>
                  <a:srgbClr val="3A3A3A"/>
                </a:solidFill>
                <a:effectLst/>
                <a:latin typeface="Times New Roman" panose="02020603050405020304" pitchFamily="18" charset="0"/>
                <a:ea typeface="Times New Roman" panose="02020603050405020304" pitchFamily="18" charset="0"/>
              </a:rPr>
              <a:t>so that </a:t>
            </a:r>
            <a:r>
              <a:rPr lang="en-US" sz="2400" b="0" dirty="0">
                <a:solidFill>
                  <a:srgbClr val="3A3A3A"/>
                </a:solidFill>
                <a:effectLst/>
                <a:latin typeface="Times New Roman" panose="02020603050405020304" pitchFamily="18" charset="0"/>
                <a:ea typeface="Times New Roman" panose="02020603050405020304" pitchFamily="18" charset="0"/>
              </a:rPr>
              <a:t>the knowledge gain can help them </a:t>
            </a:r>
            <a:r>
              <a:rPr lang="x-none" sz="2400" b="0" dirty="0">
                <a:solidFill>
                  <a:srgbClr val="3A3A3A"/>
                </a:solidFill>
                <a:effectLst/>
                <a:latin typeface="Times New Roman" panose="02020603050405020304" pitchFamily="18" charset="0"/>
                <a:ea typeface="Times New Roman" panose="02020603050405020304" pitchFamily="18" charset="0"/>
              </a:rPr>
              <a:t>contribute to </a:t>
            </a:r>
            <a:r>
              <a:rPr lang="en-US" sz="2400" b="0" dirty="0">
                <a:solidFill>
                  <a:srgbClr val="3A3A3A"/>
                </a:solidFill>
                <a:effectLst/>
                <a:latin typeface="Times New Roman" panose="02020603050405020304" pitchFamily="18" charset="0"/>
                <a:ea typeface="Times New Roman" panose="02020603050405020304" pitchFamily="18" charset="0"/>
              </a:rPr>
              <a:t>enterprise </a:t>
            </a:r>
            <a:r>
              <a:rPr lang="x-none" sz="2400" b="0" dirty="0">
                <a:solidFill>
                  <a:srgbClr val="3A3A3A"/>
                </a:solidFill>
                <a:effectLst/>
                <a:latin typeface="Times New Roman" panose="02020603050405020304" pitchFamily="18" charset="0"/>
                <a:ea typeface="Times New Roman" panose="02020603050405020304" pitchFamily="18" charset="0"/>
              </a:rPr>
              <a:t>goals </a:t>
            </a:r>
            <a:r>
              <a:rPr lang="en-US" sz="2400" b="0" dirty="0">
                <a:solidFill>
                  <a:srgbClr val="3A3A3A"/>
                </a:solidFill>
                <a:effectLst/>
                <a:latin typeface="Times New Roman" panose="02020603050405020304" pitchFamily="18" charset="0"/>
                <a:ea typeface="Times New Roman" panose="02020603050405020304" pitchFamily="18" charset="0"/>
              </a:rPr>
              <a:t>and objective </a:t>
            </a:r>
            <a:r>
              <a:rPr lang="x-none" sz="2400" b="0" dirty="0">
                <a:solidFill>
                  <a:srgbClr val="3A3A3A"/>
                </a:solidFill>
                <a:effectLst/>
                <a:latin typeface="Times New Roman" panose="02020603050405020304" pitchFamily="18" charset="0"/>
                <a:ea typeface="Times New Roman" panose="02020603050405020304" pitchFamily="18" charset="0"/>
              </a:rPr>
              <a:t>productively</a:t>
            </a:r>
            <a:r>
              <a:rPr lang="en-US" sz="2400" b="0" dirty="0">
                <a:solidFill>
                  <a:srgbClr val="3A3A3A"/>
                </a:solidFill>
                <a:effectLst/>
                <a:latin typeface="Times New Roman" panose="02020603050405020304" pitchFamily="18" charset="0"/>
                <a:ea typeface="Times New Roman" panose="02020603050405020304" pitchFamily="18" charset="0"/>
              </a:rPr>
              <a:t>. </a:t>
            </a:r>
            <a:endParaRPr lang="x-none" sz="2400" b="1" dirty="0">
              <a:effectLst/>
              <a:latin typeface="Times New Roman" panose="02020603050405020304" pitchFamily="18" charset="0"/>
              <a:ea typeface="Times New Roman" panose="02020603050405020304" pitchFamily="18" charset="0"/>
            </a:endParaRPr>
          </a:p>
          <a:p>
            <a:endParaRPr lang="x-none" dirty="0"/>
          </a:p>
        </p:txBody>
      </p:sp>
    </p:spTree>
    <p:extLst>
      <p:ext uri="{BB962C8B-B14F-4D97-AF65-F5344CB8AC3E}">
        <p14:creationId xmlns:p14="http://schemas.microsoft.com/office/powerpoint/2010/main" val="1054050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D1D572-E5B8-57BA-CD63-0B004350DC1D}"/>
              </a:ext>
            </a:extLst>
          </p:cNvPr>
          <p:cNvSpPr>
            <a:spLocks noGrp="1"/>
          </p:cNvSpPr>
          <p:nvPr>
            <p:ph type="title"/>
          </p:nvPr>
        </p:nvSpPr>
        <p:spPr>
          <a:xfrm>
            <a:off x="145775" y="365125"/>
            <a:ext cx="11873948" cy="5426075"/>
          </a:xfrm>
        </p:spPr>
        <p:txBody>
          <a:bodyPr/>
          <a:lstStyle/>
          <a:p>
            <a:pPr algn="just">
              <a:lnSpc>
                <a:spcPct val="115000"/>
              </a:lnSpc>
              <a:spcAft>
                <a:spcPts val="1000"/>
              </a:spcAft>
            </a:pPr>
            <a:r>
              <a:rPr lang="x-none" sz="2400" b="1" kern="100" dirty="0">
                <a:effectLst/>
                <a:latin typeface="Times New Roman" panose="02020603050405020304" pitchFamily="18" charset="0"/>
                <a:ea typeface="Calibri" panose="020F0502020204030204" pitchFamily="34" charset="0"/>
                <a:cs typeface="Times New Roman" panose="02020603050405020304" pitchFamily="18" charset="0"/>
              </a:rPr>
              <a:t>Strategic </a:t>
            </a: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Entrepreneurship </a:t>
            </a:r>
            <a:r>
              <a:rPr lang="x-none" sz="2400" b="1" kern="100" dirty="0">
                <a:effectLst/>
                <a:latin typeface="Times New Roman" panose="02020603050405020304" pitchFamily="18" charset="0"/>
                <a:ea typeface="Calibri" panose="020F0502020204030204" pitchFamily="34" charset="0"/>
                <a:cs typeface="Times New Roman" panose="02020603050405020304" pitchFamily="18" charset="0"/>
              </a:rPr>
              <a:t>Human Resource Management</a:t>
            </a:r>
            <a:r>
              <a:rPr lang="x-none" sz="2400" kern="100" dirty="0">
                <a:effectLst/>
                <a:latin typeface="Calibri" panose="020F0502020204030204" pitchFamily="34" charset="0"/>
                <a:ea typeface="Calibri" panose="020F0502020204030204" pitchFamily="34" charset="0"/>
                <a:cs typeface="Times New Roman" panose="02020603050405020304" pitchFamily="18" charset="0"/>
              </a:rPr>
              <a:t/>
            </a:r>
            <a:br>
              <a:rPr lang="x-none" sz="2400" kern="100" dirty="0">
                <a:effectLst/>
                <a:latin typeface="Calibri" panose="020F0502020204030204" pitchFamily="34" charset="0"/>
                <a:ea typeface="Calibri" panose="020F0502020204030204" pitchFamily="34" charset="0"/>
                <a:cs typeface="Times New Roman" panose="02020603050405020304" pitchFamily="18" charset="0"/>
              </a:rPr>
            </a:br>
            <a:r>
              <a:rPr lang="x-none" sz="2400" dirty="0">
                <a:effectLst/>
                <a:latin typeface="Times New Roman" panose="02020603050405020304" pitchFamily="18" charset="0"/>
                <a:ea typeface="Calibri" panose="020F0502020204030204" pitchFamily="34" charset="0"/>
              </a:rPr>
              <a:t> </a:t>
            </a:r>
            <a:r>
              <a:rPr lang="en-US" sz="2400" dirty="0">
                <a:effectLst/>
                <a:latin typeface="Times New Roman" panose="02020603050405020304" pitchFamily="18" charset="0"/>
                <a:ea typeface="Calibri" panose="020F0502020204030204" pitchFamily="34" charset="0"/>
              </a:rPr>
              <a:t>Strategic entrepreneurship human resource management </a:t>
            </a:r>
            <a:r>
              <a:rPr lang="x-none" sz="2400" dirty="0">
                <a:effectLst/>
                <a:latin typeface="Times New Roman" panose="02020603050405020304" pitchFamily="18" charset="0"/>
                <a:ea typeface="Calibri" panose="020F0502020204030204" pitchFamily="34" charset="0"/>
              </a:rPr>
              <a:t>practices </a:t>
            </a:r>
            <a:r>
              <a:rPr lang="en-US" sz="2400" dirty="0">
                <a:effectLst/>
                <a:latin typeface="Times New Roman" panose="02020603050405020304" pitchFamily="18" charset="0"/>
                <a:ea typeface="Calibri" panose="020F0502020204030204" pitchFamily="34" charset="0"/>
              </a:rPr>
              <a:t>develop </a:t>
            </a:r>
            <a:r>
              <a:rPr lang="x-none" sz="2400" dirty="0">
                <a:effectLst/>
                <a:latin typeface="Times New Roman" panose="02020603050405020304" pitchFamily="18" charset="0"/>
                <a:ea typeface="Calibri" panose="020F0502020204030204" pitchFamily="34" charset="0"/>
              </a:rPr>
              <a:t>measures that establish the building of </a:t>
            </a:r>
            <a:r>
              <a:rPr lang="en-US" sz="2400" dirty="0" err="1">
                <a:effectLst/>
                <a:latin typeface="Times New Roman" panose="02020603050405020304" pitchFamily="18" charset="0"/>
                <a:ea typeface="Calibri" panose="020F0502020204030204" pitchFamily="34" charset="0"/>
              </a:rPr>
              <a:t>Organisational</a:t>
            </a:r>
            <a:r>
              <a:rPr lang="en-US" sz="2400" dirty="0">
                <a:effectLst/>
                <a:latin typeface="Times New Roman" panose="02020603050405020304" pitchFamily="18" charset="0"/>
                <a:ea typeface="Calibri" panose="020F0502020204030204" pitchFamily="34" charset="0"/>
              </a:rPr>
              <a:t> </a:t>
            </a:r>
            <a:r>
              <a:rPr lang="x-none" sz="2400" dirty="0">
                <a:effectLst/>
                <a:latin typeface="Times New Roman" panose="02020603050405020304" pitchFamily="18" charset="0"/>
                <a:ea typeface="Calibri" panose="020F0502020204030204" pitchFamily="34" charset="0"/>
              </a:rPr>
              <a:t>employees’</a:t>
            </a:r>
            <a:r>
              <a:rPr lang="en-US" sz="2400" dirty="0">
                <a:effectLst/>
                <a:latin typeface="Times New Roman" panose="02020603050405020304" pitchFamily="18" charset="0"/>
                <a:ea typeface="Calibri" panose="020F0502020204030204" pitchFamily="34" charset="0"/>
              </a:rPr>
              <a:t> through adequate </a:t>
            </a:r>
            <a:r>
              <a:rPr lang="x-none" sz="2400" dirty="0">
                <a:effectLst/>
                <a:latin typeface="Times New Roman" panose="02020603050405020304" pitchFamily="18" charset="0"/>
                <a:ea typeface="Calibri" panose="020F0502020204030204" pitchFamily="34" charset="0"/>
              </a:rPr>
              <a:t>knowledge and skills</a:t>
            </a:r>
            <a:r>
              <a:rPr lang="en-US" sz="2400" dirty="0">
                <a:effectLst/>
                <a:latin typeface="Times New Roman" panose="02020603050405020304" pitchFamily="18" charset="0"/>
                <a:ea typeface="Calibri" panose="020F0502020204030204" pitchFamily="34" charset="0"/>
              </a:rPr>
              <a:t> that are mostly needed into production in order</a:t>
            </a:r>
            <a:r>
              <a:rPr lang="x-none" sz="2400" dirty="0">
                <a:effectLst/>
                <a:latin typeface="Times New Roman" panose="02020603050405020304" pitchFamily="18" charset="0"/>
                <a:ea typeface="Calibri" panose="020F0502020204030204" pitchFamily="34" charset="0"/>
              </a:rPr>
              <a:t> to promote valued and unique</a:t>
            </a:r>
            <a:r>
              <a:rPr lang="en-US" sz="2400" dirty="0">
                <a:effectLst/>
                <a:latin typeface="Times New Roman" panose="02020603050405020304" pitchFamily="18" charset="0"/>
                <a:ea typeface="Calibri" panose="020F0502020204030204" pitchFamily="34" charset="0"/>
              </a:rPr>
              <a:t> institutional </a:t>
            </a:r>
            <a:r>
              <a:rPr lang="x-none" sz="2400" dirty="0">
                <a:effectLst/>
                <a:latin typeface="Times New Roman" panose="02020603050405020304" pitchFamily="18" charset="0"/>
                <a:ea typeface="Calibri" panose="020F0502020204030204" pitchFamily="34" charset="0"/>
              </a:rPr>
              <a:t>capabilities</a:t>
            </a:r>
            <a:r>
              <a:rPr lang="en-US" sz="2400" dirty="0">
                <a:effectLst/>
                <a:latin typeface="Times New Roman" panose="02020603050405020304" pitchFamily="18" charset="0"/>
                <a:ea typeface="Calibri" panose="020F0502020204030204" pitchFamily="34" charset="0"/>
              </a:rPr>
              <a:t> and </a:t>
            </a:r>
            <a:r>
              <a:rPr lang="x-none" sz="2400" dirty="0">
                <a:effectLst/>
                <a:latin typeface="Times New Roman" panose="02020603050405020304" pitchFamily="18" charset="0"/>
                <a:ea typeface="Calibri" panose="020F0502020204030204" pitchFamily="34" charset="0"/>
              </a:rPr>
              <a:t>support competitive advantage. Strategic </a:t>
            </a:r>
            <a:r>
              <a:rPr lang="en-US" sz="2400" dirty="0">
                <a:effectLst/>
                <a:latin typeface="Times New Roman" panose="02020603050405020304" pitchFamily="18" charset="0"/>
                <a:ea typeface="Calibri" panose="020F0502020204030204" pitchFamily="34" charset="0"/>
              </a:rPr>
              <a:t>EHRM</a:t>
            </a:r>
            <a:r>
              <a:rPr lang="x-none" sz="2400" dirty="0">
                <a:effectLst/>
                <a:latin typeface="Times New Roman" panose="02020603050405020304" pitchFamily="18" charset="0"/>
                <a:ea typeface="Calibri" panose="020F0502020204030204" pitchFamily="34" charset="0"/>
              </a:rPr>
              <a:t> is a new </a:t>
            </a:r>
            <a:r>
              <a:rPr lang="en-US" sz="2400" dirty="0">
                <a:effectLst/>
                <a:latin typeface="Times New Roman" panose="02020603050405020304" pitchFamily="18" charset="0"/>
                <a:ea typeface="Calibri" panose="020F0502020204030204" pitchFamily="34" charset="0"/>
              </a:rPr>
              <a:t>area of research that focuses </a:t>
            </a:r>
            <a:r>
              <a:rPr lang="x-none" sz="2400" dirty="0">
                <a:effectLst/>
                <a:latin typeface="Times New Roman" panose="02020603050405020304" pitchFamily="18" charset="0"/>
                <a:ea typeface="Calibri" panose="020F0502020204030204" pitchFamily="34" charset="0"/>
              </a:rPr>
              <a:t>in managing HR in </a:t>
            </a:r>
            <a:r>
              <a:rPr lang="en-US" sz="2400" dirty="0">
                <a:effectLst/>
                <a:latin typeface="Times New Roman" panose="02020603050405020304" pitchFamily="18" charset="0"/>
                <a:ea typeface="Calibri" panose="020F0502020204030204" pitchFamily="34" charset="0"/>
              </a:rPr>
              <a:t>a new </a:t>
            </a:r>
            <a:r>
              <a:rPr lang="x-none" sz="2400" dirty="0" err="1">
                <a:effectLst/>
                <a:latin typeface="Times New Roman" panose="02020603050405020304" pitchFamily="18" charset="0"/>
                <a:ea typeface="Calibri" panose="020F0502020204030204" pitchFamily="34" charset="0"/>
              </a:rPr>
              <a:t>organi</a:t>
            </a:r>
            <a:r>
              <a:rPr lang="en-US" sz="2400" dirty="0">
                <a:effectLst/>
                <a:latin typeface="Times New Roman" panose="02020603050405020304" pitchFamily="18" charset="0"/>
                <a:ea typeface="Calibri" panose="020F0502020204030204" pitchFamily="34" charset="0"/>
              </a:rPr>
              <a:t>s</a:t>
            </a:r>
            <a:r>
              <a:rPr lang="x-none" sz="2400" dirty="0" err="1">
                <a:effectLst/>
                <a:latin typeface="Times New Roman" panose="02020603050405020304" pitchFamily="18" charset="0"/>
                <a:ea typeface="Calibri" panose="020F0502020204030204" pitchFamily="34" charset="0"/>
              </a:rPr>
              <a:t>ation</a:t>
            </a:r>
            <a:r>
              <a:rPr lang="x-none" sz="2400" dirty="0">
                <a:effectLst/>
                <a:latin typeface="Times New Roman" panose="02020603050405020304" pitchFamily="18" charset="0"/>
                <a:ea typeface="Calibri" panose="020F0502020204030204" pitchFamily="34" charset="0"/>
              </a:rPr>
              <a:t> which is </a:t>
            </a:r>
            <a:r>
              <a:rPr lang="en-US" sz="2400" dirty="0">
                <a:effectLst/>
                <a:latin typeface="Times New Roman" panose="02020603050405020304" pitchFamily="18" charset="0"/>
                <a:ea typeface="Calibri" panose="020F0502020204030204" pitchFamily="34" charset="0"/>
              </a:rPr>
              <a:t>build</a:t>
            </a:r>
            <a:r>
              <a:rPr lang="x-none" sz="2400" dirty="0">
                <a:effectLst/>
                <a:latin typeface="Times New Roman" panose="02020603050405020304" pitchFamily="18" charset="0"/>
                <a:ea typeface="Calibri" panose="020F0502020204030204" pitchFamily="34" charset="0"/>
              </a:rPr>
              <a:t> on the understanding that the most </a:t>
            </a:r>
            <a:r>
              <a:rPr lang="en-US" sz="2400" dirty="0">
                <a:effectLst/>
                <a:latin typeface="Times New Roman" panose="02020603050405020304" pitchFamily="18" charset="0"/>
                <a:ea typeface="Calibri" panose="020F0502020204030204" pitchFamily="34" charset="0"/>
              </a:rPr>
              <a:t>important</a:t>
            </a:r>
            <a:r>
              <a:rPr lang="x-none" sz="2400" dirty="0">
                <a:effectLst/>
                <a:latin typeface="Times New Roman" panose="02020603050405020304" pitchFamily="18" charset="0"/>
                <a:ea typeface="Calibri" panose="020F0502020204030204" pitchFamily="34" charset="0"/>
              </a:rPr>
              <a:t> resource</a:t>
            </a:r>
            <a:r>
              <a:rPr lang="en-US" sz="2400" dirty="0">
                <a:effectLst/>
                <a:latin typeface="Times New Roman" panose="02020603050405020304" pitchFamily="18" charset="0"/>
                <a:ea typeface="Calibri" panose="020F0502020204030204" pitchFamily="34" charset="0"/>
              </a:rPr>
              <a:t>s</a:t>
            </a:r>
            <a:r>
              <a:rPr lang="x-none" sz="2400" dirty="0">
                <a:effectLst/>
                <a:latin typeface="Times New Roman" panose="02020603050405020304" pitchFamily="18" charset="0"/>
                <a:ea typeface="Calibri" panose="020F0502020204030204" pitchFamily="34" charset="0"/>
              </a:rPr>
              <a:t> that </a:t>
            </a:r>
            <a:r>
              <a:rPr lang="en-US" sz="2400" dirty="0">
                <a:effectLst/>
                <a:latin typeface="Times New Roman" panose="02020603050405020304" pitchFamily="18" charset="0"/>
                <a:ea typeface="Calibri" panose="020F0502020204030204" pitchFamily="34" charset="0"/>
              </a:rPr>
              <a:t>are needed in any </a:t>
            </a:r>
            <a:r>
              <a:rPr lang="x-none" sz="2400" dirty="0">
                <a:effectLst/>
                <a:latin typeface="Times New Roman" panose="02020603050405020304" pitchFamily="18" charset="0"/>
                <a:ea typeface="Calibri" panose="020F0502020204030204" pitchFamily="34" charset="0"/>
              </a:rPr>
              <a:t>organization</a:t>
            </a:r>
            <a:r>
              <a:rPr lang="en-US" sz="2400" dirty="0">
                <a:effectLst/>
                <a:latin typeface="Times New Roman" panose="02020603050405020304" pitchFamily="18" charset="0"/>
                <a:ea typeface="Calibri" panose="020F0502020204030204" pitchFamily="34" charset="0"/>
              </a:rPr>
              <a:t> is not only the structure but the human being that function in the system,</a:t>
            </a:r>
            <a:r>
              <a:rPr lang="x-none" sz="2400" dirty="0">
                <a:effectLst/>
                <a:latin typeface="Times New Roman" panose="02020603050405020304" pitchFamily="18" charset="0"/>
                <a:ea typeface="Calibri" panose="020F0502020204030204" pitchFamily="34" charset="0"/>
              </a:rPr>
              <a:t> subsequently it is the HR that is responsible for</a:t>
            </a:r>
            <a:r>
              <a:rPr lang="en-US" sz="2400" dirty="0">
                <a:effectLst/>
                <a:latin typeface="Times New Roman" panose="02020603050405020304" pitchFamily="18" charset="0"/>
                <a:ea typeface="Calibri" panose="020F0502020204030204" pitchFamily="34" charset="0"/>
              </a:rPr>
              <a:t> the planning and </a:t>
            </a:r>
            <a:r>
              <a:rPr lang="x-none" sz="2400" dirty="0">
                <a:effectLst/>
                <a:latin typeface="Times New Roman" panose="02020603050405020304" pitchFamily="18" charset="0"/>
                <a:ea typeface="Calibri" panose="020F0502020204030204" pitchFamily="34" charset="0"/>
              </a:rPr>
              <a:t>coordinating the other factors of production</a:t>
            </a:r>
            <a:r>
              <a:rPr lang="en-US" sz="2400" dirty="0">
                <a:effectLst/>
                <a:latin typeface="Times New Roman" panose="02020603050405020304" pitchFamily="18" charset="0"/>
                <a:ea typeface="Calibri" panose="020F0502020204030204" pitchFamily="34" charset="0"/>
              </a:rPr>
              <a:t> (Land, </a:t>
            </a:r>
            <a:r>
              <a:rPr lang="en-US" sz="2400" dirty="0" err="1">
                <a:effectLst/>
                <a:latin typeface="Times New Roman" panose="02020603050405020304" pitchFamily="18" charset="0"/>
                <a:ea typeface="Calibri" panose="020F0502020204030204" pitchFamily="34" charset="0"/>
              </a:rPr>
              <a:t>Labour</a:t>
            </a:r>
            <a:r>
              <a:rPr lang="en-US" sz="2400" dirty="0">
                <a:effectLst/>
                <a:latin typeface="Times New Roman" panose="02020603050405020304" pitchFamily="18" charset="0"/>
                <a:ea typeface="Calibri" panose="020F0502020204030204" pitchFamily="34" charset="0"/>
              </a:rPr>
              <a:t> and Capital)</a:t>
            </a:r>
            <a:r>
              <a:rPr lang="x-none" sz="2400" dirty="0">
                <a:effectLst/>
                <a:latin typeface="Times New Roman" panose="02020603050405020304" pitchFamily="18" charset="0"/>
                <a:ea typeface="Calibri" panose="020F0502020204030204" pitchFamily="34" charset="0"/>
              </a:rPr>
              <a:t> to </a:t>
            </a:r>
            <a:r>
              <a:rPr lang="en-US" sz="2400" dirty="0">
                <a:effectLst/>
                <a:latin typeface="Times New Roman" panose="02020603050405020304" pitchFamily="18" charset="0"/>
                <a:ea typeface="Calibri" panose="020F0502020204030204" pitchFamily="34" charset="0"/>
              </a:rPr>
              <a:t>support</a:t>
            </a:r>
            <a:r>
              <a:rPr lang="x-none" sz="2400" dirty="0">
                <a:effectLst/>
                <a:latin typeface="Times New Roman" panose="02020603050405020304" pitchFamily="18" charset="0"/>
                <a:ea typeface="Calibri" panose="020F0502020204030204" pitchFamily="34" charset="0"/>
              </a:rPr>
              <a:t> corporate performance</a:t>
            </a:r>
            <a:r>
              <a:rPr lang="x-none" sz="2400" dirty="0">
                <a:solidFill>
                  <a:srgbClr val="FF0000"/>
                </a:solidFill>
                <a:effectLst/>
                <a:latin typeface="Times New Roman" panose="02020603050405020304" pitchFamily="18" charset="0"/>
                <a:ea typeface="Calibri" panose="020F0502020204030204" pitchFamily="34" charset="0"/>
              </a:rPr>
              <a:t>. </a:t>
            </a:r>
            <a:r>
              <a:rPr lang="x-none" sz="2400" dirty="0">
                <a:effectLst/>
                <a:latin typeface="Times New Roman" panose="02020603050405020304" pitchFamily="18" charset="0"/>
                <a:ea typeface="Calibri" panose="020F0502020204030204" pitchFamily="34" charset="0"/>
              </a:rPr>
              <a:t>Strategic </a:t>
            </a:r>
            <a:r>
              <a:rPr lang="en-US" sz="2400" dirty="0">
                <a:effectLst/>
                <a:latin typeface="Times New Roman" panose="02020603050405020304" pitchFamily="18" charset="0"/>
                <a:ea typeface="Calibri" panose="020F0502020204030204" pitchFamily="34" charset="0"/>
              </a:rPr>
              <a:t>human resource management </a:t>
            </a:r>
            <a:r>
              <a:rPr lang="en-US" sz="1800" dirty="0">
                <a:effectLst/>
                <a:latin typeface="Times New Roman" panose="02020603050405020304" pitchFamily="18" charset="0"/>
                <a:ea typeface="Calibri" panose="020F0502020204030204" pitchFamily="34" charset="0"/>
              </a:rPr>
              <a:t>desire</a:t>
            </a:r>
            <a:r>
              <a:rPr lang="x-none" sz="1800" dirty="0">
                <a:effectLst/>
                <a:latin typeface="Times New Roman" panose="02020603050405020304" pitchFamily="18" charset="0"/>
                <a:ea typeface="Calibri" panose="020F0502020204030204" pitchFamily="34" charset="0"/>
              </a:rPr>
              <a:t> to accomplish strategic </a:t>
            </a:r>
            <a:r>
              <a:rPr lang="en-US" sz="1800" dirty="0">
                <a:effectLst/>
                <a:latin typeface="Times New Roman" panose="02020603050405020304" pitchFamily="18" charset="0"/>
                <a:ea typeface="Calibri" panose="020F0502020204030204" pitchFamily="34" charset="0"/>
              </a:rPr>
              <a:t>position</a:t>
            </a:r>
            <a:r>
              <a:rPr lang="x-none" sz="1800" dirty="0">
                <a:effectLst/>
                <a:latin typeface="Times New Roman" panose="02020603050405020304" pitchFamily="18" charset="0"/>
                <a:ea typeface="Calibri" panose="020F0502020204030204" pitchFamily="34" charset="0"/>
              </a:rPr>
              <a:t>.</a:t>
            </a:r>
            <a:endParaRPr lang="x-none" dirty="0"/>
          </a:p>
        </p:txBody>
      </p:sp>
    </p:spTree>
    <p:extLst>
      <p:ext uri="{BB962C8B-B14F-4D97-AF65-F5344CB8AC3E}">
        <p14:creationId xmlns:p14="http://schemas.microsoft.com/office/powerpoint/2010/main" val="1432705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F66BAE-248D-656D-40EA-673BFA23F1D5}"/>
              </a:ext>
            </a:extLst>
          </p:cNvPr>
          <p:cNvSpPr>
            <a:spLocks noGrp="1"/>
          </p:cNvSpPr>
          <p:nvPr>
            <p:ph type="title"/>
          </p:nvPr>
        </p:nvSpPr>
        <p:spPr>
          <a:xfrm>
            <a:off x="344557" y="278296"/>
            <a:ext cx="11592339" cy="6414052"/>
          </a:xfrm>
        </p:spPr>
        <p:txBody>
          <a:bodyPr>
            <a:normAutofit fontScale="90000"/>
          </a:bodyPr>
          <a:lstStyle/>
          <a:p>
            <a:pPr algn="just"/>
            <a:r>
              <a:rPr lang="x-none" sz="3600" dirty="0">
                <a:effectLst/>
                <a:latin typeface="Times New Roman" panose="02020603050405020304" pitchFamily="18" charset="0"/>
                <a:ea typeface="Calibri" panose="020F0502020204030204" pitchFamily="34" charset="0"/>
              </a:rPr>
              <a:t>It produces strategi</a:t>
            </a:r>
            <a:r>
              <a:rPr lang="en-US" sz="3600" dirty="0">
                <a:effectLst/>
                <a:latin typeface="Times New Roman" panose="02020603050405020304" pitchFamily="18" charset="0"/>
                <a:ea typeface="Calibri" panose="020F0502020204030204" pitchFamily="34" charset="0"/>
              </a:rPr>
              <a:t>c objectives </a:t>
            </a:r>
            <a:r>
              <a:rPr lang="x-none" sz="3600" dirty="0">
                <a:effectLst/>
                <a:latin typeface="Times New Roman" panose="02020603050405020304" pitchFamily="18" charset="0"/>
                <a:ea typeface="Calibri" panose="020F0502020204030204" pitchFamily="34" charset="0"/>
              </a:rPr>
              <a:t>that are integrated vertically with the business plan</a:t>
            </a:r>
            <a:r>
              <a:rPr lang="en-US" sz="3600" dirty="0">
                <a:effectLst/>
                <a:latin typeface="Times New Roman" panose="02020603050405020304" pitchFamily="18" charset="0"/>
                <a:ea typeface="Calibri" panose="020F0502020204030204" pitchFamily="34" charset="0"/>
              </a:rPr>
              <a:t>. </a:t>
            </a:r>
            <a:br>
              <a:rPr lang="en-US" sz="3600" dirty="0">
                <a:effectLst/>
                <a:latin typeface="Times New Roman" panose="02020603050405020304" pitchFamily="18" charset="0"/>
                <a:ea typeface="Calibri" panose="020F0502020204030204" pitchFamily="34" charset="0"/>
              </a:rPr>
            </a:br>
            <a:r>
              <a:rPr lang="en-US" sz="3600" dirty="0">
                <a:effectLst/>
                <a:latin typeface="Times New Roman" panose="02020603050405020304" pitchFamily="18" charset="0"/>
                <a:ea typeface="Calibri" panose="020F0502020204030204" pitchFamily="34" charset="0"/>
              </a:rPr>
              <a:t>I</a:t>
            </a:r>
            <a:r>
              <a:rPr lang="x-none" sz="3600" dirty="0">
                <a:effectLst/>
                <a:latin typeface="Times New Roman" panose="02020603050405020304" pitchFamily="18" charset="0"/>
                <a:ea typeface="Calibri" panose="020F0502020204030204" pitchFamily="34" charset="0"/>
              </a:rPr>
              <a:t>deally</a:t>
            </a:r>
            <a:r>
              <a:rPr lang="en-US" sz="3600" dirty="0">
                <a:effectLst/>
                <a:latin typeface="Times New Roman" panose="02020603050405020304" pitchFamily="18" charset="0"/>
                <a:ea typeface="Calibri" panose="020F0502020204030204" pitchFamily="34" charset="0"/>
              </a:rPr>
              <a:t>,  it serves as</a:t>
            </a:r>
            <a:r>
              <a:rPr lang="x-none" sz="3600" dirty="0">
                <a:effectLst/>
                <a:latin typeface="Times New Roman" panose="02020603050405020304" pitchFamily="18" charset="0"/>
                <a:ea typeface="Calibri" panose="020F0502020204030204" pitchFamily="34" charset="0"/>
              </a:rPr>
              <a:t> an integral part of </a:t>
            </a:r>
            <a:r>
              <a:rPr lang="en-US" sz="3600" dirty="0">
                <a:effectLst/>
                <a:latin typeface="Times New Roman" panose="02020603050405020304" pitchFamily="18" charset="0"/>
                <a:ea typeface="Calibri" panose="020F0502020204030204" pitchFamily="34" charset="0"/>
              </a:rPr>
              <a:t>the overall</a:t>
            </a:r>
            <a:r>
              <a:rPr lang="x-none" sz="3600" dirty="0">
                <a:effectLst/>
                <a:latin typeface="Times New Roman" panose="02020603050405020304" pitchFamily="18" charset="0"/>
                <a:ea typeface="Calibri" panose="020F0502020204030204" pitchFamily="34" charset="0"/>
              </a:rPr>
              <a:t> strategy</a:t>
            </a:r>
            <a:r>
              <a:rPr lang="en-US" sz="3600" dirty="0">
                <a:effectLst/>
                <a:latin typeface="Times New Roman" panose="02020603050405020304" pitchFamily="18" charset="0"/>
                <a:ea typeface="Calibri" panose="020F0502020204030204" pitchFamily="34" charset="0"/>
              </a:rPr>
              <a:t> of the business. Therefore,</a:t>
            </a:r>
            <a:r>
              <a:rPr lang="x-none" sz="3600" dirty="0">
                <a:effectLst/>
                <a:latin typeface="Times New Roman" panose="02020603050405020304" pitchFamily="18" charset="0"/>
                <a:ea typeface="Calibri" panose="020F0502020204030204" pitchFamily="34" charset="0"/>
              </a:rPr>
              <a:t> Vertical integration in </a:t>
            </a:r>
            <a:r>
              <a:rPr lang="en-US" sz="3600" dirty="0">
                <a:effectLst/>
                <a:latin typeface="Times New Roman" panose="02020603050405020304" pitchFamily="18" charset="0"/>
                <a:ea typeface="Calibri" panose="020F0502020204030204" pitchFamily="34" charset="0"/>
              </a:rPr>
              <a:t>require</a:t>
            </a:r>
            <a:r>
              <a:rPr lang="x-none" sz="3600" dirty="0">
                <a:effectLst/>
                <a:latin typeface="Times New Roman" panose="02020603050405020304" pitchFamily="18" charset="0"/>
                <a:ea typeface="Calibri" panose="020F0502020204030204" pitchFamily="34" charset="0"/>
              </a:rPr>
              <a:t> to provide correspondence between business and HR strategy so that</a:t>
            </a:r>
            <a:r>
              <a:rPr lang="en-US" sz="3600" dirty="0">
                <a:effectLst/>
                <a:latin typeface="Times New Roman" panose="02020603050405020304" pitchFamily="18" charset="0"/>
                <a:ea typeface="Calibri" panose="020F0502020204030204" pitchFamily="34" charset="0"/>
              </a:rPr>
              <a:t> it can</a:t>
            </a:r>
            <a:r>
              <a:rPr lang="x-none" sz="3600" dirty="0">
                <a:effectLst/>
                <a:latin typeface="Times New Roman" panose="02020603050405020304" pitchFamily="18" charset="0"/>
                <a:ea typeface="Calibri" panose="020F0502020204030204" pitchFamily="34" charset="0"/>
              </a:rPr>
              <a:t> supports the accomplishment of the business </a:t>
            </a:r>
            <a:r>
              <a:rPr lang="en-US" sz="3600" dirty="0">
                <a:effectLst/>
                <a:latin typeface="Times New Roman" panose="02020603050405020304" pitchFamily="18" charset="0"/>
                <a:ea typeface="Calibri" panose="020F0502020204030204" pitchFamily="34" charset="0"/>
              </a:rPr>
              <a:t>strategic objective, also</a:t>
            </a:r>
            <a:r>
              <a:rPr lang="x-none" sz="3600" dirty="0">
                <a:effectLst/>
                <a:latin typeface="Times New Roman" panose="02020603050405020304" pitchFamily="18" charset="0"/>
                <a:ea typeface="Calibri" panose="020F0502020204030204" pitchFamily="34" charset="0"/>
              </a:rPr>
              <a:t> help to define </a:t>
            </a:r>
            <a:r>
              <a:rPr lang="en-US" sz="3600" dirty="0">
                <a:effectLst/>
                <a:latin typeface="Times New Roman" panose="02020603050405020304" pitchFamily="18" charset="0"/>
                <a:ea typeface="Calibri" panose="020F0502020204030204" pitchFamily="34" charset="0"/>
              </a:rPr>
              <a:t>the long-term goals of the business.  Strategic entrepreneur human resource management talk</a:t>
            </a:r>
            <a:r>
              <a:rPr lang="x-none" sz="3600" dirty="0">
                <a:effectLst/>
                <a:latin typeface="Times New Roman" panose="02020603050405020304" pitchFamily="18" charset="0"/>
                <a:ea typeface="Calibri" panose="020F0502020204030204" pitchFamily="34" charset="0"/>
              </a:rPr>
              <a:t> about horizontal integration which </a:t>
            </a:r>
            <a:r>
              <a:rPr lang="en-US" sz="3600" dirty="0">
                <a:effectLst/>
                <a:latin typeface="Times New Roman" panose="02020603050405020304" pitchFamily="18" charset="0"/>
                <a:ea typeface="Calibri" panose="020F0502020204030204" pitchFamily="34" charset="0"/>
              </a:rPr>
              <a:t>interest is</a:t>
            </a:r>
            <a:r>
              <a:rPr lang="x-none" sz="3600" dirty="0">
                <a:effectLst/>
                <a:latin typeface="Times New Roman" panose="02020603050405020304" pitchFamily="18" charset="0"/>
                <a:ea typeface="Calibri" panose="020F0502020204030204" pitchFamily="34" charset="0"/>
              </a:rPr>
              <a:t> to ensure that the different elements of the HR strategy </a:t>
            </a:r>
            <a:r>
              <a:rPr lang="en-US" sz="3600" dirty="0">
                <a:effectLst/>
                <a:latin typeface="Times New Roman" panose="02020603050405020304" pitchFamily="18" charset="0"/>
                <a:ea typeface="Calibri" panose="020F0502020204030204" pitchFamily="34" charset="0"/>
              </a:rPr>
              <a:t>blend</a:t>
            </a:r>
            <a:r>
              <a:rPr lang="x-none" sz="3600" dirty="0">
                <a:effectLst/>
                <a:latin typeface="Times New Roman" panose="02020603050405020304" pitchFamily="18" charset="0"/>
                <a:ea typeface="Calibri" panose="020F0502020204030204" pitchFamily="34" charset="0"/>
              </a:rPr>
              <a:t> together and are mutually supportive (Armstrong, 2008). It</a:t>
            </a:r>
            <a:r>
              <a:rPr lang="en-US" sz="3600" dirty="0">
                <a:effectLst/>
                <a:latin typeface="Times New Roman" panose="02020603050405020304" pitchFamily="18" charset="0"/>
                <a:ea typeface="Calibri" panose="020F0502020204030204" pitchFamily="34" charset="0"/>
              </a:rPr>
              <a:t> also supports the process of </a:t>
            </a:r>
            <a:r>
              <a:rPr lang="x-none" sz="3600" dirty="0">
                <a:effectLst/>
                <a:latin typeface="Times New Roman" panose="02020603050405020304" pitchFamily="18" charset="0"/>
                <a:ea typeface="Calibri" panose="020F0502020204030204" pitchFamily="34" charset="0"/>
              </a:rPr>
              <a:t>strategic decisions </a:t>
            </a:r>
            <a:r>
              <a:rPr lang="en-US" sz="3600" dirty="0">
                <a:effectLst/>
                <a:latin typeface="Times New Roman" panose="02020603050405020304" pitchFamily="18" charset="0"/>
                <a:ea typeface="Calibri" panose="020F0502020204030204" pitchFamily="34" charset="0"/>
              </a:rPr>
              <a:t>making</a:t>
            </a:r>
            <a:r>
              <a:rPr lang="x-none" sz="3600" dirty="0">
                <a:effectLst/>
                <a:latin typeface="Times New Roman" panose="02020603050405020304" pitchFamily="18" charset="0"/>
                <a:ea typeface="Calibri" panose="020F0502020204030204" pitchFamily="34" charset="0"/>
              </a:rPr>
              <a:t> that have a major long-term </a:t>
            </a:r>
            <a:r>
              <a:rPr lang="en-US" sz="3600" dirty="0">
                <a:effectLst/>
                <a:latin typeface="Times New Roman" panose="02020603050405020304" pitchFamily="18" charset="0"/>
                <a:ea typeface="Calibri" panose="020F0502020204030204" pitchFamily="34" charset="0"/>
              </a:rPr>
              <a:t>effect</a:t>
            </a:r>
            <a:r>
              <a:rPr lang="x-none" sz="3600" dirty="0">
                <a:effectLst/>
                <a:latin typeface="Times New Roman" panose="02020603050405020304" pitchFamily="18" charset="0"/>
                <a:ea typeface="Calibri" panose="020F0502020204030204" pitchFamily="34" charset="0"/>
              </a:rPr>
              <a:t> on the behaviour and success of the organization by ensuring that the </a:t>
            </a:r>
            <a:r>
              <a:rPr lang="en-US" sz="3600" dirty="0">
                <a:effectLst/>
                <a:latin typeface="Times New Roman" panose="02020603050405020304" pitchFamily="18" charset="0"/>
                <a:ea typeface="Calibri" panose="020F0502020204030204" pitchFamily="34" charset="0"/>
              </a:rPr>
              <a:t>institution</a:t>
            </a:r>
            <a:r>
              <a:rPr lang="x-none" sz="3600" dirty="0">
                <a:effectLst/>
                <a:latin typeface="Times New Roman" panose="02020603050405020304" pitchFamily="18" charset="0"/>
                <a:ea typeface="Calibri" panose="020F0502020204030204" pitchFamily="34" charset="0"/>
              </a:rPr>
              <a:t> has the </a:t>
            </a:r>
            <a:r>
              <a:rPr lang="en-US" sz="3600" dirty="0">
                <a:effectLst/>
                <a:latin typeface="Times New Roman" panose="02020603050405020304" pitchFamily="18" charset="0"/>
                <a:ea typeface="Calibri" panose="020F0502020204030204" pitchFamily="34" charset="0"/>
              </a:rPr>
              <a:t>require </a:t>
            </a:r>
            <a:r>
              <a:rPr lang="x-none" sz="3600" dirty="0">
                <a:effectLst/>
                <a:latin typeface="Times New Roman" panose="02020603050405020304" pitchFamily="18" charset="0"/>
                <a:ea typeface="Calibri" panose="020F0502020204030204" pitchFamily="34" charset="0"/>
              </a:rPr>
              <a:t>skill</a:t>
            </a:r>
            <a:r>
              <a:rPr lang="en-US" sz="3600" dirty="0">
                <a:effectLst/>
                <a:latin typeface="Times New Roman" panose="02020603050405020304" pitchFamily="18" charset="0"/>
                <a:ea typeface="Calibri" panose="020F0502020204030204" pitchFamily="34" charset="0"/>
              </a:rPr>
              <a:t>ed,</a:t>
            </a:r>
            <a:r>
              <a:rPr lang="x-none" sz="3600" dirty="0">
                <a:effectLst/>
                <a:latin typeface="Times New Roman" panose="02020603050405020304" pitchFamily="18" charset="0"/>
                <a:ea typeface="Calibri" panose="020F0502020204030204" pitchFamily="34" charset="0"/>
              </a:rPr>
              <a:t> committed</a:t>
            </a:r>
            <a:r>
              <a:rPr lang="en-US" sz="3600" dirty="0">
                <a:effectLst/>
                <a:latin typeface="Times New Roman" panose="02020603050405020304" pitchFamily="18" charset="0"/>
                <a:ea typeface="Calibri" panose="020F0502020204030204" pitchFamily="34" charset="0"/>
              </a:rPr>
              <a:t> individuals </a:t>
            </a:r>
            <a:r>
              <a:rPr lang="x-none" sz="3600" dirty="0">
                <a:effectLst/>
                <a:latin typeface="Times New Roman" panose="02020603050405020304" pitchFamily="18" charset="0"/>
                <a:ea typeface="Calibri" panose="020F0502020204030204" pitchFamily="34" charset="0"/>
              </a:rPr>
              <a:t>and well-motivated </a:t>
            </a:r>
            <a:r>
              <a:rPr lang="en-US" sz="3600" dirty="0">
                <a:effectLst/>
                <a:latin typeface="Times New Roman" panose="02020603050405020304" pitchFamily="18" charset="0"/>
                <a:ea typeface="Calibri" panose="020F0502020204030204" pitchFamily="34" charset="0"/>
              </a:rPr>
              <a:t>staff</a:t>
            </a:r>
            <a:r>
              <a:rPr lang="x-none" sz="3600" dirty="0">
                <a:effectLst/>
                <a:latin typeface="Times New Roman" panose="02020603050405020304" pitchFamily="18" charset="0"/>
                <a:ea typeface="Calibri" panose="020F0502020204030204" pitchFamily="34" charset="0"/>
              </a:rPr>
              <a:t> it need to achieve competitive advantage</a:t>
            </a:r>
            <a:r>
              <a:rPr lang="x-none" sz="2400" dirty="0">
                <a:effectLst/>
                <a:latin typeface="Times New Roman" panose="02020603050405020304" pitchFamily="18" charset="0"/>
                <a:ea typeface="Calibri" panose="020F0502020204030204" pitchFamily="34" charset="0"/>
              </a:rPr>
              <a:t>.</a:t>
            </a:r>
            <a:endParaRPr lang="x-none" sz="5400" dirty="0"/>
          </a:p>
        </p:txBody>
      </p:sp>
    </p:spTree>
    <p:extLst>
      <p:ext uri="{BB962C8B-B14F-4D97-AF65-F5344CB8AC3E}">
        <p14:creationId xmlns:p14="http://schemas.microsoft.com/office/powerpoint/2010/main" val="2811087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38C685-66D9-D741-8FEB-D9ADE92F61F6}"/>
              </a:ext>
            </a:extLst>
          </p:cNvPr>
          <p:cNvSpPr>
            <a:spLocks noGrp="1"/>
          </p:cNvSpPr>
          <p:nvPr>
            <p:ph type="title"/>
          </p:nvPr>
        </p:nvSpPr>
        <p:spPr>
          <a:xfrm>
            <a:off x="225287" y="172278"/>
            <a:ext cx="11741425" cy="6533322"/>
          </a:xfrm>
        </p:spPr>
        <p:txBody>
          <a:bodyPr>
            <a:normAutofit/>
          </a:bodyPr>
          <a:lstStyle/>
          <a:p>
            <a:pPr algn="just"/>
            <a:r>
              <a:rPr lang="x-none"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700" kern="100" dirty="0">
                <a:effectLst/>
                <a:latin typeface="Times New Roman" panose="02020603050405020304" pitchFamily="18" charset="0"/>
                <a:ea typeface="Calibri" panose="020F0502020204030204" pitchFamily="34" charset="0"/>
                <a:cs typeface="Times New Roman" panose="02020603050405020304" pitchFamily="18" charset="0"/>
              </a:rPr>
              <a:t>Meanwhile, </a:t>
            </a:r>
            <a:r>
              <a:rPr lang="x-none" sz="2700" kern="100" dirty="0">
                <a:effectLst/>
                <a:latin typeface="Times New Roman" panose="02020603050405020304" pitchFamily="18" charset="0"/>
                <a:ea typeface="Calibri" panose="020F0502020204030204" pitchFamily="34" charset="0"/>
                <a:cs typeface="Times New Roman" panose="02020603050405020304" pitchFamily="18" charset="0"/>
              </a:rPr>
              <a:t>Cooke et al (2005) </a:t>
            </a:r>
            <a:r>
              <a:rPr lang="en-US" sz="2700" i="1"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x-none" sz="2700" i="1" kern="100" dirty="0">
                <a:effectLst/>
                <a:latin typeface="Times New Roman" panose="02020603050405020304" pitchFamily="18" charset="0"/>
                <a:ea typeface="Calibri" panose="020F0502020204030204" pitchFamily="34" charset="0"/>
                <a:cs typeface="Times New Roman" panose="02020603050405020304" pitchFamily="18" charset="0"/>
              </a:rPr>
              <a:t>asserted that </a:t>
            </a:r>
            <a:r>
              <a:rPr lang="en-US" sz="2700" i="1" kern="100" dirty="0">
                <a:effectLst/>
                <a:latin typeface="Times New Roman" panose="02020603050405020304" pitchFamily="18" charset="0"/>
                <a:ea typeface="Calibri" panose="020F0502020204030204" pitchFamily="34" charset="0"/>
                <a:cs typeface="Times New Roman" panose="02020603050405020304" pitchFamily="18" charset="0"/>
              </a:rPr>
              <a:t>EHRM</a:t>
            </a:r>
            <a:r>
              <a:rPr lang="x-none" sz="2700" i="1" kern="100" dirty="0">
                <a:effectLst/>
                <a:latin typeface="Times New Roman" panose="02020603050405020304" pitchFamily="18" charset="0"/>
                <a:ea typeface="Calibri" panose="020F0502020204030204" pitchFamily="34" charset="0"/>
                <a:cs typeface="Times New Roman" panose="02020603050405020304" pitchFamily="18" charset="0"/>
              </a:rPr>
              <a:t> is and efficient function that copes with environmental changes. It directly and indirectly benefits companies because it changes passivity into initiative, transmits organizational goals clearly and encourages the involvement of line managers</a:t>
            </a:r>
            <a:r>
              <a:rPr lang="en-US" sz="2700" i="1"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x-none" sz="2700" i="1"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x-none" sz="2700" kern="100" dirty="0">
                <a:effectLst/>
                <a:latin typeface="Times New Roman" panose="02020603050405020304" pitchFamily="18" charset="0"/>
                <a:ea typeface="Calibri" panose="020F0502020204030204" pitchFamily="34" charset="0"/>
                <a:cs typeface="Times New Roman" panose="02020603050405020304" pitchFamily="18" charset="0"/>
              </a:rPr>
              <a:t> Marchington (2008) </a:t>
            </a:r>
            <a:r>
              <a:rPr lang="en-US" sz="27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x-none" sz="2700" kern="100" dirty="0">
                <a:effectLst/>
                <a:latin typeface="Times New Roman" panose="02020603050405020304" pitchFamily="18" charset="0"/>
                <a:ea typeface="Calibri" panose="020F0502020204030204" pitchFamily="34" charset="0"/>
                <a:cs typeface="Times New Roman" panose="02020603050405020304" pitchFamily="18" charset="0"/>
              </a:rPr>
              <a:t>argues that </a:t>
            </a:r>
            <a:r>
              <a:rPr lang="en-US" sz="2700" kern="100" dirty="0">
                <a:effectLst/>
                <a:latin typeface="Times New Roman" panose="02020603050405020304" pitchFamily="18" charset="0"/>
                <a:ea typeface="Calibri" panose="020F0502020204030204" pitchFamily="34" charset="0"/>
                <a:cs typeface="Times New Roman" panose="02020603050405020304" pitchFamily="18" charset="0"/>
              </a:rPr>
              <a:t>E</a:t>
            </a:r>
            <a:r>
              <a:rPr lang="x-none" sz="2700" kern="100" dirty="0">
                <a:effectLst/>
                <a:latin typeface="Times New Roman" panose="02020603050405020304" pitchFamily="18" charset="0"/>
                <a:ea typeface="Calibri" panose="020F0502020204030204" pitchFamily="34" charset="0"/>
                <a:cs typeface="Times New Roman" panose="02020603050405020304" pitchFamily="18" charset="0"/>
              </a:rPr>
              <a:t>H</a:t>
            </a:r>
            <a:r>
              <a:rPr lang="en-US" sz="2700" kern="100" dirty="0">
                <a:effectLst/>
                <a:latin typeface="Times New Roman" panose="02020603050405020304" pitchFamily="18" charset="0"/>
                <a:ea typeface="Calibri" panose="020F0502020204030204" pitchFamily="34" charset="0"/>
                <a:cs typeface="Times New Roman" panose="02020603050405020304" pitchFamily="18" charset="0"/>
              </a:rPr>
              <a:t>RM</a:t>
            </a:r>
            <a:r>
              <a:rPr lang="x-none" sz="2700" kern="100" dirty="0">
                <a:effectLst/>
                <a:latin typeface="Times New Roman" panose="02020603050405020304" pitchFamily="18" charset="0"/>
                <a:ea typeface="Calibri" panose="020F0502020204030204" pitchFamily="34" charset="0"/>
                <a:cs typeface="Times New Roman" panose="02020603050405020304" pitchFamily="18" charset="0"/>
              </a:rPr>
              <a:t> positively influences firm performance because it generates structural cohesion, an employee-generated synergy that peoples a company forward, enabling the firm to respond to its environment while still moving forward</a:t>
            </a:r>
            <a:r>
              <a:rPr lang="en-US" sz="27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x-none" sz="2700" kern="100" dirty="0">
                <a:effectLst/>
                <a:latin typeface="Times New Roman" panose="02020603050405020304" pitchFamily="18" charset="0"/>
                <a:ea typeface="Calibri" panose="020F0502020204030204" pitchFamily="34" charset="0"/>
                <a:cs typeface="Times New Roman" panose="02020603050405020304" pitchFamily="18" charset="0"/>
              </a:rPr>
              <a:t>. Cooke et al (2005) </a:t>
            </a:r>
            <a:r>
              <a:rPr lang="en-US" sz="27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x-none" sz="2700" kern="100" dirty="0">
                <a:effectLst/>
                <a:latin typeface="Times New Roman" panose="02020603050405020304" pitchFamily="18" charset="0"/>
                <a:ea typeface="Calibri" panose="020F0502020204030204" pitchFamily="34" charset="0"/>
                <a:cs typeface="Times New Roman" panose="02020603050405020304" pitchFamily="18" charset="0"/>
              </a:rPr>
              <a:t>investigated the HRM practices of firms in declining industries. They found that most high-performance firms adopted </a:t>
            </a:r>
            <a:r>
              <a:rPr lang="en-US" sz="2700" kern="100" dirty="0">
                <a:effectLst/>
                <a:latin typeface="Times New Roman" panose="02020603050405020304" pitchFamily="18" charset="0"/>
                <a:ea typeface="Calibri" panose="020F0502020204030204" pitchFamily="34" charset="0"/>
                <a:cs typeface="Times New Roman" panose="02020603050405020304" pitchFamily="18" charset="0"/>
              </a:rPr>
              <a:t>SHRM</a:t>
            </a:r>
            <a:r>
              <a:rPr lang="x-none" sz="2700" kern="100" dirty="0">
                <a:effectLst/>
                <a:latin typeface="Times New Roman" panose="02020603050405020304" pitchFamily="18" charset="0"/>
                <a:ea typeface="Calibri" panose="020F0502020204030204" pitchFamily="34" charset="0"/>
                <a:cs typeface="Times New Roman" panose="02020603050405020304" pitchFamily="18" charset="0"/>
              </a:rPr>
              <a:t> measures. Conversely, low performance firms tended to employ conventional methods. Various researchers</a:t>
            </a:r>
            <a:r>
              <a:rPr lang="en-US" sz="27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x-none" sz="2700" kern="100" dirty="0">
                <a:effectLst/>
                <a:latin typeface="Times New Roman" panose="02020603050405020304" pitchFamily="18" charset="0"/>
                <a:ea typeface="Calibri" panose="020F0502020204030204" pitchFamily="34" charset="0"/>
                <a:cs typeface="Times New Roman" panose="02020603050405020304" pitchFamily="18" charset="0"/>
              </a:rPr>
              <a:t> (Appelbaum et al., 2000; Guest et al 2000; West et al., 2002; Purcell et al. 2007) </a:t>
            </a:r>
            <a:r>
              <a:rPr lang="en-US" sz="27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x-none" sz="2700" kern="100" dirty="0">
                <a:effectLst/>
                <a:latin typeface="Times New Roman" panose="02020603050405020304" pitchFamily="18" charset="0"/>
                <a:ea typeface="Calibri" panose="020F0502020204030204" pitchFamily="34" charset="0"/>
                <a:cs typeface="Times New Roman" panose="02020603050405020304" pitchFamily="18" charset="0"/>
              </a:rPr>
              <a:t>have found a positive relation between </a:t>
            </a:r>
            <a:r>
              <a:rPr lang="en-US" sz="2700" kern="100" dirty="0">
                <a:effectLst/>
                <a:latin typeface="Times New Roman" panose="02020603050405020304" pitchFamily="18" charset="0"/>
                <a:ea typeface="Calibri" panose="020F0502020204030204" pitchFamily="34" charset="0"/>
                <a:cs typeface="Times New Roman" panose="02020603050405020304" pitchFamily="18" charset="0"/>
              </a:rPr>
              <a:t>S</a:t>
            </a:r>
            <a:r>
              <a:rPr lang="x-none" sz="2700" kern="100" dirty="0">
                <a:effectLst/>
                <a:latin typeface="Times New Roman" panose="02020603050405020304" pitchFamily="18" charset="0"/>
                <a:ea typeface="Calibri" panose="020F0502020204030204" pitchFamily="34" charset="0"/>
                <a:cs typeface="Times New Roman" panose="02020603050405020304" pitchFamily="18" charset="0"/>
              </a:rPr>
              <a:t>HRM practice and firm financial performance</a:t>
            </a:r>
            <a:r>
              <a:rPr lang="en-US" sz="27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x-none" sz="2700" kern="100" dirty="0">
                <a:effectLst/>
                <a:latin typeface="Times New Roman" panose="02020603050405020304" pitchFamily="18" charset="0"/>
                <a:ea typeface="Calibri" panose="020F0502020204030204" pitchFamily="34" charset="0"/>
                <a:cs typeface="Times New Roman" panose="02020603050405020304" pitchFamily="18" charset="0"/>
              </a:rPr>
              <a:t>. They found that the strategic orientation of HR in high productivity firms differed obviously from that in low productivity firms.</a:t>
            </a:r>
            <a:r>
              <a:rPr lang="x-none" sz="2000" kern="100" dirty="0">
                <a:effectLst/>
                <a:latin typeface="Calibri" panose="020F0502020204030204" pitchFamily="34" charset="0"/>
                <a:ea typeface="Calibri" panose="020F0502020204030204" pitchFamily="34" charset="0"/>
                <a:cs typeface="Times New Roman" panose="02020603050405020304" pitchFamily="18" charset="0"/>
              </a:rPr>
              <a:t/>
            </a:r>
            <a:br>
              <a:rPr lang="x-none" sz="2000" kern="100" dirty="0">
                <a:effectLst/>
                <a:latin typeface="Calibri" panose="020F0502020204030204" pitchFamily="34" charset="0"/>
                <a:ea typeface="Calibri" panose="020F0502020204030204" pitchFamily="34" charset="0"/>
                <a:cs typeface="Times New Roman" panose="02020603050405020304" pitchFamily="18" charset="0"/>
              </a:rPr>
            </a:br>
            <a:endParaRPr lang="x-none" dirty="0"/>
          </a:p>
        </p:txBody>
      </p:sp>
    </p:spTree>
    <p:extLst>
      <p:ext uri="{BB962C8B-B14F-4D97-AF65-F5344CB8AC3E}">
        <p14:creationId xmlns:p14="http://schemas.microsoft.com/office/powerpoint/2010/main" val="93710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BE7CE9E-5E16-EBD9-8BF8-BF8370B2C1A7}"/>
              </a:ext>
            </a:extLst>
          </p:cNvPr>
          <p:cNvSpPr>
            <a:spLocks noGrp="1"/>
          </p:cNvSpPr>
          <p:nvPr>
            <p:ph idx="1"/>
          </p:nvPr>
        </p:nvSpPr>
        <p:spPr>
          <a:xfrm>
            <a:off x="344557" y="516835"/>
            <a:ext cx="11542643" cy="5660128"/>
          </a:xfrm>
        </p:spPr>
        <p:txBody>
          <a:bodyPr/>
          <a:lstStyle/>
          <a:p>
            <a:pPr algn="just">
              <a:lnSpc>
                <a:spcPct val="107000"/>
              </a:lnSpc>
              <a:spcAft>
                <a:spcPts val="800"/>
              </a:spcAft>
            </a:pPr>
            <a:r>
              <a:rPr lang="en-US" sz="1800" b="1"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b="1"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1.3 Human Resource Management Activities:</a:t>
            </a:r>
            <a:endParaRPr lang="x-none"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Clr>
                <a:srgbClr val="3A3A3A"/>
              </a:buClr>
              <a:buSzPts val="1400"/>
              <a:buFont typeface="+mj-lt"/>
              <a:buAutoNum type="arabicPeriod"/>
            </a:pPr>
            <a:r>
              <a:rPr lang="x-none"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Empower </a:t>
            </a:r>
            <a:r>
              <a:rPr lang="en-US"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employees</a:t>
            </a:r>
            <a:r>
              <a:rPr lang="x-none"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 through job descriptions</a:t>
            </a:r>
            <a:r>
              <a:rPr lang="en-US"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x-none"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Clr>
                <a:srgbClr val="3A3A3A"/>
              </a:buClr>
              <a:buSzPts val="1400"/>
              <a:buFont typeface="+mj-lt"/>
              <a:buAutoNum type="arabicPeriod"/>
            </a:pPr>
            <a:r>
              <a:rPr lang="en-US"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P</a:t>
            </a:r>
            <a:r>
              <a:rPr lang="x-none"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performance appraisals</a:t>
            </a:r>
            <a:r>
              <a:rPr lang="en-US"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 evaluation.</a:t>
            </a:r>
            <a:endParaRPr lang="x-none"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Clr>
                <a:srgbClr val="3A3A3A"/>
              </a:buClr>
              <a:buSzPts val="1400"/>
              <a:buFont typeface="+mj-lt"/>
              <a:buAutoNum type="arabicPeriod"/>
            </a:pPr>
            <a:r>
              <a:rPr lang="x-none"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Encourage through performance management agreements</a:t>
            </a:r>
            <a:r>
              <a:rPr lang="en-US"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x-none"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Clr>
                <a:srgbClr val="3A3A3A"/>
              </a:buClr>
              <a:buSzPts val="1400"/>
              <a:buFont typeface="+mj-lt"/>
              <a:buAutoNum type="arabicPeriod"/>
            </a:pPr>
            <a:r>
              <a:rPr lang="en-US"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Marinating </a:t>
            </a:r>
            <a:r>
              <a:rPr lang="x-none"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policies</a:t>
            </a:r>
            <a:r>
              <a:rPr lang="en-US"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 through</a:t>
            </a:r>
            <a:r>
              <a:rPr lang="x-none"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 procedures, and defined </a:t>
            </a:r>
            <a:r>
              <a:rPr lang="en-US"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culture</a:t>
            </a:r>
            <a:r>
              <a:rPr lang="x-none"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 within the organizational   </a:t>
            </a:r>
            <a:r>
              <a:rPr lang="en-US"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setting and </a:t>
            </a:r>
            <a:endParaRPr lang="x-none"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5"/>
            </a:pPr>
            <a:r>
              <a:rPr lang="en-US" sz="36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Organization of resources to achieve the enterprise goals.</a:t>
            </a:r>
            <a:endParaRPr lang="x-none" sz="3600" dirty="0"/>
          </a:p>
        </p:txBody>
      </p:sp>
    </p:spTree>
    <p:extLst>
      <p:ext uri="{BB962C8B-B14F-4D97-AF65-F5344CB8AC3E}">
        <p14:creationId xmlns:p14="http://schemas.microsoft.com/office/powerpoint/2010/main" val="4244327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xmlns="" id="{51530E33-D997-A9CA-D3FE-3236EB676B40}"/>
              </a:ext>
            </a:extLst>
          </p:cNvPr>
          <p:cNvGraphicFramePr>
            <a:graphicFrameLocks noGrp="1"/>
          </p:cNvGraphicFramePr>
          <p:nvPr>
            <p:ph idx="1"/>
            <p:extLst>
              <p:ext uri="{D42A27DB-BD31-4B8C-83A1-F6EECF244321}">
                <p14:modId xmlns:p14="http://schemas.microsoft.com/office/powerpoint/2010/main" val="2674657669"/>
              </p:ext>
            </p:extLst>
          </p:nvPr>
        </p:nvGraphicFramePr>
        <p:xfrm>
          <a:off x="212036" y="357808"/>
          <a:ext cx="11887200" cy="63610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74781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77E96C-B5AC-4613-816C-09448689CE0A}"/>
              </a:ext>
            </a:extLst>
          </p:cNvPr>
          <p:cNvSpPr>
            <a:spLocks noGrp="1"/>
          </p:cNvSpPr>
          <p:nvPr>
            <p:ph type="title"/>
          </p:nvPr>
        </p:nvSpPr>
        <p:spPr>
          <a:xfrm>
            <a:off x="622851" y="207617"/>
            <a:ext cx="11569149" cy="946840"/>
          </a:xfrm>
        </p:spPr>
        <p:txBody>
          <a:bodyPr>
            <a:normAutofit/>
          </a:bodyPr>
          <a:lstStyle/>
          <a:p>
            <a:r>
              <a:rPr lang="en-US" sz="2400"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F</a:t>
            </a:r>
            <a:r>
              <a:rPr lang="en-US" sz="2400"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unctions of human Resource </a:t>
            </a:r>
            <a:r>
              <a:rPr lang="en-US" sz="2400"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M</a:t>
            </a:r>
            <a:r>
              <a:rPr lang="en-US" sz="2400"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anagement</a:t>
            </a:r>
            <a:r>
              <a:rPr lang="x-none"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r>
            <a:br>
              <a:rPr lang="x-none"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br>
            <a:endParaRPr lang="x-none" sz="2400" dirty="0">
              <a:solidFill>
                <a:srgbClr val="FF0000"/>
              </a:solidFill>
            </a:endParaRPr>
          </a:p>
        </p:txBody>
      </p:sp>
      <p:sp>
        <p:nvSpPr>
          <p:cNvPr id="3" name="Content Placeholder 2">
            <a:extLst>
              <a:ext uri="{FF2B5EF4-FFF2-40B4-BE49-F238E27FC236}">
                <a16:creationId xmlns:a16="http://schemas.microsoft.com/office/drawing/2014/main" xmlns="" id="{A7617595-5561-5B82-2710-7116A3D828C1}"/>
              </a:ext>
            </a:extLst>
          </p:cNvPr>
          <p:cNvSpPr>
            <a:spLocks noGrp="1"/>
          </p:cNvSpPr>
          <p:nvPr>
            <p:ph idx="1"/>
          </p:nvPr>
        </p:nvSpPr>
        <p:spPr>
          <a:xfrm>
            <a:off x="291547" y="1537252"/>
            <a:ext cx="11688417" cy="4639711"/>
          </a:xfrm>
        </p:spPr>
        <p:txBody>
          <a:bodyPr>
            <a:normAutofit fontScale="85000" lnSpcReduction="20000"/>
          </a:bodyPr>
          <a:lstStyle/>
          <a:p>
            <a:pPr algn="just">
              <a:lnSpc>
                <a:spcPct val="107000"/>
              </a:lnSpc>
              <a:spcAft>
                <a:spcPts val="800"/>
              </a:spcAft>
            </a:pPr>
            <a:r>
              <a:rPr lang="en-US" sz="35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The above diagram shows some of the functions of Human resource management in an entrepreneurial business as follows:</a:t>
            </a:r>
            <a:endParaRPr lang="x-none" sz="35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35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Staffing functions of assigning responsibility.  </a:t>
            </a:r>
            <a:endParaRPr lang="x-none" sz="35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35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Compensation and benefit functions</a:t>
            </a:r>
            <a:endParaRPr lang="x-none" sz="35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35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 Worker’s protection function</a:t>
            </a:r>
            <a:endParaRPr lang="x-none" sz="35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35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Policies formulation strategy are design by the human resource managers.</a:t>
            </a:r>
            <a:endParaRPr lang="x-none" sz="35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35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Protection of staff and property in the Organisation</a:t>
            </a:r>
            <a:endParaRPr lang="x-none" sz="35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US" sz="3500" kern="1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Initiating laws that will help to guide the operation of enterprises.</a:t>
            </a:r>
            <a:endParaRPr lang="x-none" sz="35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x-none" dirty="0"/>
          </a:p>
        </p:txBody>
      </p:sp>
    </p:spTree>
    <p:extLst>
      <p:ext uri="{BB962C8B-B14F-4D97-AF65-F5344CB8AC3E}">
        <p14:creationId xmlns:p14="http://schemas.microsoft.com/office/powerpoint/2010/main" val="3898062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403F60D-D141-255E-9D50-13C9F6D680C4}"/>
              </a:ext>
            </a:extLst>
          </p:cNvPr>
          <p:cNvSpPr>
            <a:spLocks noGrp="1"/>
          </p:cNvSpPr>
          <p:nvPr>
            <p:ph idx="1"/>
          </p:nvPr>
        </p:nvSpPr>
        <p:spPr>
          <a:xfrm>
            <a:off x="265044" y="1825625"/>
            <a:ext cx="11661912" cy="4351338"/>
          </a:xfrm>
        </p:spPr>
        <p:txBody>
          <a:bodyPr/>
          <a:lstStyle/>
          <a:p>
            <a:pPr algn="just">
              <a:spcAft>
                <a:spcPts val="1500"/>
              </a:spcAft>
            </a:pPr>
            <a:r>
              <a:rPr lang="en-US" sz="2000" b="1" dirty="0">
                <a:solidFill>
                  <a:srgbClr val="3A3A3A"/>
                </a:solidFill>
                <a:effectLst/>
                <a:latin typeface="Times New Roman" panose="02020603050405020304" pitchFamily="18" charset="0"/>
                <a:ea typeface="Times New Roman" panose="02020603050405020304" pitchFamily="18" charset="0"/>
              </a:rPr>
              <a:t>Summary:</a:t>
            </a:r>
            <a:endParaRPr lang="x-none" sz="2000" b="1" dirty="0">
              <a:effectLst/>
              <a:latin typeface="Times New Roman" panose="02020603050405020304" pitchFamily="18" charset="0"/>
              <a:ea typeface="Times New Roman" panose="02020603050405020304" pitchFamily="18" charset="0"/>
            </a:endParaRPr>
          </a:p>
          <a:p>
            <a:pPr algn="just">
              <a:spcAft>
                <a:spcPts val="1500"/>
              </a:spcAft>
            </a:pPr>
            <a:r>
              <a:rPr lang="en-US" sz="3200" b="0" dirty="0">
                <a:solidFill>
                  <a:srgbClr val="3A3A3A"/>
                </a:solidFill>
                <a:effectLst/>
                <a:latin typeface="Times New Roman" panose="02020603050405020304" pitchFamily="18" charset="0"/>
                <a:ea typeface="Times New Roman" panose="02020603050405020304" pitchFamily="18" charset="0"/>
              </a:rPr>
              <a:t>In this </a:t>
            </a:r>
            <a:r>
              <a:rPr lang="en-US" sz="3200" dirty="0">
                <a:solidFill>
                  <a:srgbClr val="3A3A3A"/>
                </a:solidFill>
                <a:latin typeface="Times New Roman" panose="02020603050405020304" pitchFamily="18" charset="0"/>
                <a:ea typeface="Times New Roman" panose="02020603050405020304" pitchFamily="18" charset="0"/>
              </a:rPr>
              <a:t>slide,</a:t>
            </a:r>
            <a:r>
              <a:rPr lang="en-US" sz="3200" b="0" dirty="0">
                <a:solidFill>
                  <a:srgbClr val="3A3A3A"/>
                </a:solidFill>
                <a:effectLst/>
                <a:latin typeface="Times New Roman" panose="02020603050405020304" pitchFamily="18" charset="0"/>
                <a:ea typeface="Times New Roman" panose="02020603050405020304" pitchFamily="18" charset="0"/>
              </a:rPr>
              <a:t> effort was made to bring out some importance of the study of entrepreneurship in human resource management, the differences between human resource memorial and entrepreneurship, functions human resource management in an organization and  human resource management activities.</a:t>
            </a:r>
            <a:endParaRPr lang="x-none" sz="3200" b="1" dirty="0">
              <a:effectLst/>
              <a:latin typeface="Times New Roman" panose="02020603050405020304" pitchFamily="18" charset="0"/>
              <a:ea typeface="Times New Roman" panose="02020603050405020304" pitchFamily="18" charset="0"/>
            </a:endParaRPr>
          </a:p>
          <a:p>
            <a:endParaRPr lang="x-none" dirty="0"/>
          </a:p>
        </p:txBody>
      </p:sp>
    </p:spTree>
    <p:extLst>
      <p:ext uri="{BB962C8B-B14F-4D97-AF65-F5344CB8AC3E}">
        <p14:creationId xmlns:p14="http://schemas.microsoft.com/office/powerpoint/2010/main" val="1793350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BAB39A8-2404-6AB3-1BDF-44582ADF63F1}"/>
              </a:ext>
            </a:extLst>
          </p:cNvPr>
          <p:cNvSpPr>
            <a:spLocks noGrp="1"/>
          </p:cNvSpPr>
          <p:nvPr>
            <p:ph idx="1"/>
          </p:nvPr>
        </p:nvSpPr>
        <p:spPr>
          <a:xfrm>
            <a:off x="174812" y="510988"/>
            <a:ext cx="11873753" cy="4950358"/>
          </a:xfrm>
        </p:spPr>
        <p:txBody>
          <a:bodyPr/>
          <a:lstStyle/>
          <a:p>
            <a:pPr marL="0" indent="0" algn="just">
              <a:buNone/>
            </a:pPr>
            <a:r>
              <a:rPr lang="en-US" sz="2400" b="1" dirty="0">
                <a:solidFill>
                  <a:srgbClr val="3A3A3A"/>
                </a:solidFill>
                <a:latin typeface="Times New Roman" panose="02020603050405020304" pitchFamily="18" charset="0"/>
                <a:ea typeface="Times New Roman" panose="02020603050405020304" pitchFamily="18" charset="0"/>
              </a:rPr>
              <a:t> </a:t>
            </a:r>
          </a:p>
          <a:p>
            <a:pPr marL="0" indent="0" algn="just">
              <a:buNone/>
            </a:pPr>
            <a:endParaRPr lang="en-US" sz="2400" b="1" dirty="0">
              <a:solidFill>
                <a:srgbClr val="3A3A3A"/>
              </a:solidFill>
              <a:effectLst/>
              <a:latin typeface="Times New Roman" panose="02020603050405020304" pitchFamily="18" charset="0"/>
              <a:ea typeface="Times New Roman" panose="02020603050405020304" pitchFamily="18" charset="0"/>
            </a:endParaRPr>
          </a:p>
          <a:p>
            <a:pPr marL="0" indent="0" algn="just">
              <a:buNone/>
            </a:pPr>
            <a:r>
              <a:rPr lang="en-US" sz="2400" b="1" dirty="0">
                <a:solidFill>
                  <a:srgbClr val="3A3A3A"/>
                </a:solidFill>
                <a:effectLst/>
                <a:latin typeface="Times New Roman" panose="02020603050405020304" pitchFamily="18" charset="0"/>
                <a:ea typeface="Times New Roman" panose="02020603050405020304" pitchFamily="18" charset="0"/>
              </a:rPr>
              <a:t>                                Likely examination question:</a:t>
            </a:r>
            <a:endParaRPr lang="x-none" sz="2400" b="1"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pPr>
            <a:r>
              <a:rPr lang="en-US" sz="2400" b="0" dirty="0">
                <a:solidFill>
                  <a:srgbClr val="3A3A3A"/>
                </a:solidFill>
                <a:effectLst/>
                <a:latin typeface="Times New Roman" panose="02020603050405020304" pitchFamily="18" charset="0"/>
                <a:ea typeface="Times New Roman" panose="02020603050405020304" pitchFamily="18" charset="0"/>
              </a:rPr>
              <a:t>Explain the functions of human resource management in an Organisation?</a:t>
            </a:r>
            <a:endParaRPr lang="x-none" sz="2400" b="1" dirty="0">
              <a:effectLst/>
              <a:latin typeface="Times New Roman" panose="02020603050405020304" pitchFamily="18" charset="0"/>
              <a:ea typeface="Times New Roman" panose="02020603050405020304" pitchFamily="18" charset="0"/>
            </a:endParaRPr>
          </a:p>
          <a:p>
            <a:pPr marL="0" lvl="0" indent="0" algn="just">
              <a:buNone/>
            </a:pPr>
            <a:r>
              <a:rPr lang="en-US" sz="2400" b="0" dirty="0">
                <a:solidFill>
                  <a:srgbClr val="3A3A3A"/>
                </a:solidFill>
                <a:effectLst/>
                <a:latin typeface="Times New Roman" panose="02020603050405020304" pitchFamily="18" charset="0"/>
                <a:ea typeface="Times New Roman" panose="02020603050405020304" pitchFamily="18" charset="0"/>
              </a:rPr>
              <a:t>2. What is the link between Entrepreneurship and Human Resource Management</a:t>
            </a:r>
            <a:r>
              <a:rPr lang="en-US" sz="2400" dirty="0">
                <a:solidFill>
                  <a:srgbClr val="3A3A3A"/>
                </a:solidFill>
                <a:latin typeface="Times New Roman" panose="02020603050405020304" pitchFamily="18" charset="0"/>
                <a:ea typeface="Times New Roman" panose="02020603050405020304" pitchFamily="18" charset="0"/>
              </a:rPr>
              <a:t>.</a:t>
            </a:r>
            <a:endParaRPr lang="x-none" sz="2400" b="1" dirty="0">
              <a:effectLst/>
              <a:latin typeface="Times New Roman" panose="02020603050405020304" pitchFamily="18" charset="0"/>
              <a:ea typeface="Times New Roman" panose="02020603050405020304" pitchFamily="18" charset="0"/>
            </a:endParaRPr>
          </a:p>
          <a:p>
            <a:pPr marL="0" lvl="0" indent="0" algn="just">
              <a:buNone/>
            </a:pPr>
            <a:endParaRPr lang="x-none" sz="2400" b="1" dirty="0">
              <a:effectLst/>
              <a:latin typeface="Times New Roman" panose="02020603050405020304" pitchFamily="18" charset="0"/>
              <a:ea typeface="Times New Roman" panose="02020603050405020304" pitchFamily="18" charset="0"/>
            </a:endParaRPr>
          </a:p>
          <a:p>
            <a:endParaRPr lang="x-none" dirty="0"/>
          </a:p>
        </p:txBody>
      </p:sp>
    </p:spTree>
    <p:extLst>
      <p:ext uri="{BB962C8B-B14F-4D97-AF65-F5344CB8AC3E}">
        <p14:creationId xmlns:p14="http://schemas.microsoft.com/office/powerpoint/2010/main" val="34738265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1268</Words>
  <Application>Microsoft Office PowerPoint</Application>
  <PresentationFormat>Widescreen</PresentationFormat>
  <Paragraphs>42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ENTREPRENEURSHIP IN HUMAN RESOURCE MANAGEMENT  By  OMOLUABI, E.T (Ph.D.)  Department of Business Administration Faculty of Arts, Management and Social Sciences Edo State University Uzairue.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Strategic Entrepreneurship Human Resource Management  Strategic entrepreneurship human resource management practices develop measures that establish the building of Organisational employees’ through adequate knowledge and skills that are mostly needed into production in order to promote valued and unique institutional capabilities and support competitive advantage. Strategic EHRM is a new area of research that focuses in managing HR in a new organisation which is build on the understanding that the most important resources that are needed in any organization is not only the structure but the human being that function in the system, subsequently it is the HR that is responsible for the planning and coordinating the other factors of production (Land, Labour and Capital) to support corporate performance. Strategic human resource management desire to accomplish strategic position.</vt:lpstr>
      <vt:lpstr>It produces strategic objectives that are integrated vertically with the business plan.  Ideally,  it serves as an integral part of the overall strategy of the business. Therefore, Vertical integration in require to provide correspondence between business and HR strategy so that it can supports the accomplishment of the business strategic objective, also help to define the long-term goals of the business.  Strategic entrepreneur human resource management talk about horizontal integration which interest is to ensure that the different elements of the HR strategy blend together and are mutually supportive (Armstrong, 2008). It also supports the process of strategic decisions making that have a major long-term effect on the behaviour and success of the organization by ensuring that the institution has the require skilled, committed individuals and well-motivated staff it need to achieve competitive advantage.</vt:lpstr>
      <vt:lpstr>.  Meanwhile, Cooke et al (2005) “asserted that EHRM is and efficient function that copes with environmental changes. It directly and indirectly benefits companies because it changes passivity into initiative, transmits organizational goals clearly and encourages the involvement of line managers”. Marchington (2008) “argues that EHRM positively influences firm performance because it generates structural cohesion, an employee-generated synergy that peoples a company forward, enabling the firm to respond to its environment while still moving forward”. Cooke et al (2005) “investigated the HRM practices of firms in declining industries. They found that most high-performance firms adopted SHRM measures. Conversely, low performance firms tended to employ conventional methods. Various researchers” (Appelbaum et al., 2000; Guest et al 2000; West et al., 2002; Purcell et al. 2007) “have found a positive relation between SHRM practice and firm financial performance”. They found that the strategic orientation of HR in high productivity firms differed obviously from that in low productivity firms. </vt:lpstr>
      <vt:lpstr>PowerPoint Presentation</vt:lpstr>
      <vt:lpstr>PowerPoint Presentation</vt:lpstr>
      <vt:lpstr>                                Functions of human Resource Management </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ENTREPRENEURSHIP IN HUMAN RESOURCE MANAGEMENT  By  OMOLUABI, E.T (Ph.D.)  Department of Business Administration Faculty of Arts, Management and Social Sciences Edo State University Uzairue.</dc:title>
  <dc:creator>Dr. EHIS</dc:creator>
  <cp:lastModifiedBy>USER</cp:lastModifiedBy>
  <cp:revision>19</cp:revision>
  <dcterms:created xsi:type="dcterms:W3CDTF">2023-03-06T13:43:10Z</dcterms:created>
  <dcterms:modified xsi:type="dcterms:W3CDTF">2025-02-07T08:46:28Z</dcterms:modified>
</cp:coreProperties>
</file>